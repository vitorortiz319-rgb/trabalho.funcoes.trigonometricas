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74"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5" r:id="rId21"/>
  </p:sldIdLst>
  <p:sldSz cx="12192000" cy="6858000"/>
  <p:notesSz cx="6858000" cy="12192000"/>
  <p:embeddedFontLst>
    <p:embeddedFont>
      <p:font typeface="Brygada 1918" pitchFamily="2" charset="0"/>
      <p:regular r:id="rId23"/>
      <p:bold r:id="rId24"/>
      <p:italic r:id="rId25"/>
      <p:boldItalic r:id="rId26"/>
    </p:embeddedFont>
    <p:embeddedFont>
      <p:font typeface="Brygada 1918 Bold" pitchFamily="2" charset="0"/>
      <p:regular r:id="rId27"/>
      <p:bold r:id="rId28"/>
    </p:embeddedFont>
    <p:embeddedFont>
      <p:font typeface="Brygada 1918 SemiBold" pitchFamily="2" charset="0"/>
      <p:regular r:id="rId29"/>
      <p:bold r:id="rId30"/>
      <p:boldItalic r:id="rId31"/>
    </p:embeddedFont>
    <p:embeddedFont>
      <p:font typeface="Calibri" panose="020F0502020204030204" pitchFamily="34" charset="0"/>
      <p:regular r:id="rId32"/>
      <p:bold r:id="rId33"/>
      <p:italic r:id="rId34"/>
      <p:boldItalic r:id="rId35"/>
    </p:embeddedFont>
    <p:embeddedFont>
      <p:font typeface="Oferta do Dia" pitchFamily="2" charset="0"/>
      <p:regular r:id="rId3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301" y="4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27.332"/>
    </inkml:context>
    <inkml:brush xml:id="br0">
      <inkml:brushProperty name="width" value="0.2" units="cm"/>
      <inkml:brushProperty name="height" value="0.2" units="cm"/>
      <inkml:brushProperty name="color" value="#E71224"/>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29.477"/>
    </inkml:context>
    <inkml:brush xml:id="br0">
      <inkml:brushProperty name="width" value="0.2" units="cm"/>
      <inkml:brushProperty name="height" value="0.2" units="cm"/>
      <inkml:brushProperty name="color" value="#E71224"/>
      <inkml:brushProperty name="ignorePressure" value="1"/>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30.807"/>
    </inkml:context>
    <inkml:brush xml:id="br0">
      <inkml:brushProperty name="width" value="0.2" units="cm"/>
      <inkml:brushProperty name="height" value="0.2"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32.670"/>
    </inkml:context>
    <inkml:brush xml:id="br0">
      <inkml:brushProperty name="width" value="0.2" units="cm"/>
      <inkml:brushProperty name="height" value="0.2" units="cm"/>
      <inkml:brushProperty name="color" value="#E71224"/>
      <inkml:brushProperty name="ignorePressure" value="1"/>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36.708"/>
    </inkml:context>
    <inkml:brush xml:id="br0">
      <inkml:brushProperty name="width" value="0.2" units="cm"/>
      <inkml:brushProperty name="height" value="0.2" units="cm"/>
      <inkml:brushProperty name="color" value="#E71224"/>
      <inkml:brushProperty name="ignorePressure" value="1"/>
    </inkml:brush>
  </inkml:definitions>
  <inkml:trace contextRef="#ctx0" brushRef="#br0">0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59.642"/>
    </inkml:context>
    <inkml:brush xml:id="br0">
      <inkml:brushProperty name="width" value="0.05" units="cm"/>
      <inkml:brushProperty name="height" value="0.05" units="cm"/>
      <inkml:brushProperty name="ignorePressure" value="1"/>
    </inkml:brush>
  </inkml:definitions>
  <inkml:trace contextRef="#ctx0" brushRef="#br0">0 1,'1'0,"1"1,-1 0,0 0,0 0,1 0,-1 0,0 0,0 0,0 0,-1 1,1-1,0 0,0 1,-1-1,2 2,9 23,-2 11,-2 0,-2 0,-1 1,-2-1,-3 50,0-34,-10 52,11-103,0-1,0 0,0 0,0 0,0 1,0-1,0 0,0 0,-1 1,1-1,0 0,-1 0,1 0,-1 0,0 1,0-2,1 0,-1-1,1 1,-1-1,1 1,-1-1,1 1,0-1,-1 1,1-1,0 0,0 1,-1-1,1 1,0-1,0 0,0 1,0-1,-1 0,1 1,0-1,0 0,0 1,0-1,1 0,-1 1,0-2,0-7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00.469"/>
    </inkml:context>
    <inkml:brush xml:id="br0">
      <inkml:brushProperty name="width" value="0.05" units="cm"/>
      <inkml:brushProperty name="height" value="0.05" units="cm"/>
      <inkml:brushProperty name="ignorePressure" value="1"/>
    </inkml:brush>
  </inkml:definitions>
  <inkml:trace contextRef="#ctx0" brushRef="#br0">0 2,'90'-1,"96"3,-185-2,1 0,0 1,0 0,0-1,0 1,-1 0,1 0,0 0,-1 0,1 0,0 0,-1 1,0-1,1 1,-1-1,0 1,0-1,0 1,0-1,0 1,0 0,1 3,14 50,-9-28,-5-21,0 1,-1 0,0 0,0 0,0 0,-1 0,1 0,-2 8,1-13,-1-1,1 1,0 0,-1 0,1 0,-1 0,1-1,-1 1,0 0,0-1,0 1,0 0,0-1,0 1,0-1,0 0,-1 1,1-1,-1 0,1 0,-1 0,1 0,-1 0,1 0,-1 0,0-1,0 1,1 0,-1-1,0 0,0 1,0-1,-3 0,-12 1,0 0,0-1,-1-1,1-1,0 0,0-1,1-1,-1-1,1 0,-24-12,34 14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22.522"/>
    </inkml:context>
    <inkml:brush xml:id="br0">
      <inkml:brushProperty name="width" value="0.05" units="cm"/>
      <inkml:brushProperty name="height" value="0.05" units="cm"/>
      <inkml:brushProperty name="ignorePressure" value="1"/>
    </inkml:brush>
  </inkml:definitions>
  <inkml:trace contextRef="#ctx0" brushRef="#br0">300 56,'0'-1,"-1"-1,1 1,0-1,-1 0,1 1,-1-1,0 1,1-1,-1 1,0-1,0 1,0 0,0 0,0-1,0 1,0 0,0 0,-1 0,1 0,0 0,-1 0,1 0,0 0,-1 1,1-1,-3 0,-49-12,34 10,10 1,1 0,-1 1,0 0,1 1,-1 0,0 0,0 1,-15 3,19-3,0 1,0-1,0 2,0-1,0 0,0 1,1 0,-1 0,1 0,0 1,0 0,0-1,0 1,1 1,-4 4,3-4,1 0,-1 1,1-1,0 1,1-1,-1 1,1 0,0 0,1 0,-1 0,1 0,1 0,-1 1,1-1,0 0,0 0,1 1,2 11,-2-13,1 0,-1-1,1 1,0 0,1-1,-1 1,1-1,-1 0,1 0,1 0,3 3,1 1,2-1,-1 0,15 7,-11-6,-2-3,1 0,0-1,1 0,-1-1,1 0,-1-1,1-1,25 1,-17-2,-12 2,0-2,-1 1,1-1,0 0,0-1,0 0,0-1,0 0,-1 0,1-1,-1 0,15-7,9-10,-27 15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27.419"/>
    </inkml:context>
    <inkml:brush xml:id="br0">
      <inkml:brushProperty name="width" value="0.05" units="cm"/>
      <inkml:brushProperty name="height" value="0.05" units="cm"/>
      <inkml:brushProperty name="ignorePressure" value="1"/>
    </inkml:brush>
  </inkml:definitions>
  <inkml:trace contextRef="#ctx0" brushRef="#br0">0 483,'3'-1,"-1"0,1 0,0 0,-1 0,1 0,-1-1,1 1,-1-1,0 0,0 1,1-1,-1 0,3-5,24-30,-3 2,54-86,-49 65,20-41,-32 59,-17 32,0 0,1 0,0 0,0 0,0 1,1 0,-1 0,1 0,1 0,-1 0,10-7,-14 12,1-1,-1 1,0 0,0 0,1 0,-1 0,0 0,1 0,-1-1,0 1,0 0,1 0,-1 0,0 0,1 0,-1 0,0 0,1 0,-1 0,0 1,1-1,-1 0,0 0,0 0,1 0,-1 0,0 0,1 1,-1-1,0 0,0 0,0 0,1 1,-1-1,0 1,5 14,-3 20,-2-32,1 104,-4 85,-2-152,-12 40,8-40,6-26,1-3,0 0,0 0,0 15,2-17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28.281"/>
    </inkml:context>
    <inkml:brush xml:id="br0">
      <inkml:brushProperty name="width" value="0.05" units="cm"/>
      <inkml:brushProperty name="height" value="0.05" units="cm"/>
      <inkml:brushProperty name="ignorePressure" value="1"/>
    </inkml:brush>
  </inkml:definitions>
  <inkml:trace contextRef="#ctx0" brushRef="#br0">1 1,'23'0,"0"1,-1 1,1 1,24 6,-35-7,0 0,1 0,24-2,-28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3.111"/>
    </inkml:context>
    <inkml:brush xml:id="br0">
      <inkml:brushProperty name="width" value="0.05" units="cm"/>
      <inkml:brushProperty name="height" value="0.05" units="cm"/>
      <inkml:brushProperty name="ignorePressure" value="1"/>
    </inkml:brush>
  </inkml:definitions>
  <inkml:trace contextRef="#ctx0" brushRef="#br0">1 328,'1'-4,"1"0,0 0,0 0,0 0,1 0,-1 1,1-1,0 1,3-4,2-3,67-108,-38 56,-33 56,36-51,-38 54,1 0,-1 1,0-1,1 1,0-1,0 1,-1 0,1 0,0 0,1 0,-1 1,0-1,0 1,1 0,-1 0,5-1,-7 2,1 1,0-1,-1 0,1 1,-1-1,1 1,-1 0,1-1,-1 1,1 0,-1 0,1 0,-1 0,0 0,0 1,0-1,0 0,0 0,0 1,0-1,0 1,0-1,0 1,-1-1,2 4,13 47,-12-35,-2-13,0-1,0 1,1 0,-1 0,1-1,0 1,0-1,0 0,0 1,1-1,-1 0,1 0,0 0,0-1,4 4,-5-5,0 0,1 0,-1 0,0 0,1-1,-1 1,1-1,-1 0,1 1,-1-1,1 0,0 0,-1-1,1 1,-1 0,1-1,-1 0,1 1,-1-1,0 0,1 0,-1-1,0 1,4-3,10-7,0 0,20-19,-30 24,1-1,-2 1,1-1,-1 0,0 0,0-1,6-14,-8 14,5-8,-5 18,-2 12,0 13,-2 1,-1-1,-1 0,-9 41,8-47,2 0,1 1,0 0,3 24,0 8,0-35,0-12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3.498"/>
    </inkml:context>
    <inkml:brush xml:id="br0">
      <inkml:brushProperty name="width" value="0.05" units="cm"/>
      <inkml:brushProperty name="height" value="0.05" units="cm"/>
      <inkml:brushProperty name="ignorePressure" value="1"/>
    </inkml:brush>
  </inkml:definitions>
  <inkml:trace contextRef="#ctx0" brushRef="#br0">22 0,'2'87,"-4"92,-9-119,8-45,0-1,1 1,-1 24,4-53,-1 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3.843"/>
    </inkml:context>
    <inkml:brush xml:id="br0">
      <inkml:brushProperty name="width" value="0.05" units="cm"/>
      <inkml:brushProperty name="height" value="0.05" units="cm"/>
      <inkml:brushProperty name="ignorePressure" value="1"/>
    </inkml:brush>
  </inkml:definitions>
  <inkml:trace contextRef="#ctx0" brushRef="#br0">1 1,'0'1,"0"4,0 1,0 2,0 2,0 0,0 1,0-1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4.856"/>
    </inkml:context>
    <inkml:brush xml:id="br0">
      <inkml:brushProperty name="width" value="0.05" units="cm"/>
      <inkml:brushProperty name="height" value="0.05" units="cm"/>
      <inkml:brushProperty name="ignorePressure" value="1"/>
    </inkml:brush>
  </inkml:definitions>
  <inkml:trace contextRef="#ctx0" brushRef="#br0">0 465,'2'-1,"0"1,0 0,0-1,0 1,0-1,0 0,0 1,0-1,0 0,0 0,-1-1,1 1,0 0,-1 0,1-1,-1 1,2-3,24-35,-7 10,-9 14,-1 0,-1 0,0-1,-1 0,-1-1,8-25,0-10,-9 30,1 0,11-26,-17 47,0-1,-1 0,1 0,0 1,0-1,1 0,-1 1,0-1,1 1,-1-1,0 1,1 0,0 0,-1 0,1 0,3-2,-5 3,1 0,0 0,0 0,0 1,0-1,0 0,0 0,0 1,0-1,0 0,-1 1,1-1,0 1,0-1,0 1,-1 0,1-1,0 1,-1 0,1-1,0 1,-1 0,1 0,-1 0,0-1,1 1,-1 0,1 0,-1 0,0 0,0 0,0 0,1 0,-1 1,17 51,-9-33,-1 0,-1 0,-1 1,-1 0,-1 0,1 26,-4 199,3-261,1 1,0-1,12-27,-7 19,68-161,-71 170,-2 6,-1-1,0 0,0 0,-1 0,2-13,6-28,-7 38,0 1,-1-1,1-20,-2 23,0 0,0 0,1 0,6-17,-7 24,2-7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56.504"/>
    </inkml:context>
    <inkml:brush xml:id="br0">
      <inkml:brushProperty name="width" value="0.05" units="cm"/>
      <inkml:brushProperty name="height" value="0.05" units="cm"/>
      <inkml:brushProperty name="ignorePressure" value="1"/>
    </inkml:brush>
  </inkml:definitions>
  <inkml:trace contextRef="#ctx0" brushRef="#br0">1 1,'3'1,"0"-1,0 1,0 0,-1 0,1 1,0-1,-1 1,1-1,0 1,-1 0,0 0,1 0,-1 0,0 1,0-1,0 0,-1 1,3 4,0-2,0 1,-1 0,0 0,0 1,-1-1,0 1,3 9,5 215,-10-231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3:59:58.255"/>
    </inkml:context>
    <inkml:brush xml:id="br0">
      <inkml:brushProperty name="width" value="0.05" units="cm"/>
      <inkml:brushProperty name="height" value="0.05" units="cm"/>
      <inkml:brushProperty name="ignorePressure" value="1"/>
    </inkml:brush>
  </inkml:definitions>
  <inkml:trace contextRef="#ctx0" brushRef="#br0">0 80,'2'0,"0"-1,-1 1,1-1,0 0,-1 0,1 0,0 0,-1 0,1 0,-1 0,0 0,1 0,0-2,19-12,38-5,-43 14,-1 1,1 0,0 1,19-2,-13 4,-17 1,0 0,0 0,1 1,-1 0,0 0,0 1,6 0,-8 0,-1 0,1 1,-1-1,1 0,-1 1,0-1,1 1,-1 0,0 0,0 0,0 0,-1 0,1 0,0 1,-1-1,1 1,0 2,1 1,0 0,0 0,-1 0,0 1,0-1,-1 1,1 0,-1-1,-1 1,1 0,-1 0,-1 8,0-14,0 0,1 0,-1 0,0 0,0 0,0 0,0 0,0 0,0-1,0 1,0 0,0-1,0 1,0-1,0 1,-1-1,1 1,0-1,-2 0,-32 4,15-2,10 0,7-2,1 0,0 0,-1 1,1-1,0 1,-1 0,1 0,0 0,-4 2,5 6,13 7,0-5,0 1,-1 0,0 1,-1 0,-1 1,13 24,-20-33,0 0,0 0,-1 0,0 0,0 0,0 1,0-1,-1 0,0 0,0 1,0-1,-1 0,0 1,-2 6,2-9,0-1,0 1,0 0,0-1,-1 1,1-1,-1 0,0 0,1 1,-1-1,0 0,0 0,0-1,-1 1,1 0,0-1,-1 1,1-1,-1 0,1 0,-1 0,0 0,1 0,-1-1,0 1,0-1,-5 1,-44 4,43-3,1 0,-1-1,1 0,-1-1,1 0,-1 0,0-1,1 0,-1 0,1-1,0 0,-14-5,15 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7.950"/>
    </inkml:context>
    <inkml:brush xml:id="br0">
      <inkml:brushProperty name="width" value="0.05" units="cm"/>
      <inkml:brushProperty name="height" value="0.05" units="cm"/>
      <inkml:brushProperty name="ignorePressure" value="1"/>
    </inkml:brush>
  </inkml:definitions>
  <inkml:trace contextRef="#ctx0" brushRef="#br0">1 396,'2'-5,"0"0,0 0,1 0,0 0,0 1,0-1,1 1,-1 0,9-7,-10 8,20-22,-1-1,16-30,-3 7,-3 0,-21 31,1 0,14-15,-8 11,-11 14,-1 1,1 0,14-12,-20 18,0 1,0 0,0 0,1 0,-1 0,0 0,0 0,0-1,1 1,-1 0,0 0,0 0,0 0,1 0,-1 0,0 0,0 0,0 0,1 0,-1 0,0 0,0 0,0 0,1 0,-1 0,0 0,0 0,0 0,1 0,-1 1,0-1,0 0,0 0,0 0,1 0,-1 0,0 0,0 1,0-1,0 0,0 0,1 0,-1 0,0 1,0-1,0 0,4 16,-3 18,-1-32,-12 135,3-60,8-68,-1 0,1-1,1 1,0 0,0 0,0-1,1 1,3 11,-4-20,1 1,-1-1,0 0,1 0,-1 0,1 0,-1 0,1 0,-1 0,1 0,-1 0,0 0,1 0,-1 0,1 0,-1-1,1 1,-1 0,0 0,1 0,-1-1,1 1,-1 0,0 0,1-1,-1 1,0 0,1-1,-1 1,0 0,0-1,1 1,-1-1,0 1,0-1,16-17,-15 16,114-144,-110 139,19-22,41-37,-51 48,1 3,-11 19,-2 15,-3 0,-1 1,0 0,-10 32,-3 30,10-51,-13 51,4-25,11-43,-12 67,8-47,6-26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8.481"/>
    </inkml:context>
    <inkml:brush xml:id="br0">
      <inkml:brushProperty name="width" value="0.05" units="cm"/>
      <inkml:brushProperty name="height" value="0.05" units="cm"/>
      <inkml:brushProperty name="ignorePressure" value="1"/>
    </inkml:brush>
  </inkml:definitions>
  <inkml:trace contextRef="#ctx0" brushRef="#br0">0 429,'2'-7,"0"0,0 0,1 1,-1 0,1-1,7-9,-3 4,129-211,-127 209,-1-1,8-22,9-16,-19 38,-4 11,-1 17,2 18,4 111,-7 90,0-232,-1-1,1 1,0 0,0 0,0 0,-1-1,1 1,0 0,0 0,-1 0,1 0,0 0,0-1,-1 1,1 0,0 0,-1 0,1 0,0 0,0 0,-1 0,1 0,0 0,-1 0,1 0,0 0,-1 0,1 0,0 0,0 0,-1 1,1-1,0 0,0 0,-1 0,1 0,0 1,0-1,-1 0,1 0,0 0,0 1,0-1,-1 0,1 0,0 1,0-1,0 0,0 0,0 1,0-1,-1 0,1 1,0-1,0 0,0 0,0 1,0-1,0 0,0 1,-3-6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8.824"/>
    </inkml:context>
    <inkml:brush xml:id="br0">
      <inkml:brushProperty name="width" value="0.05" units="cm"/>
      <inkml:brushProperty name="height" value="0.05" units="cm"/>
      <inkml:brushProperty name="ignorePressure" value="1"/>
    </inkml:brush>
  </inkml:definitions>
  <inkml:trace contextRef="#ctx0" brushRef="#br0">1 1,'2'0,"2"0,2 0,1 1,0 4,1-1,1 0,1 0,-2-1,1 1,-1-1,-1 1,0-1,1 0,0-1,0 1,-1 1,-1-2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9.182"/>
    </inkml:context>
    <inkml:brush xml:id="br0">
      <inkml:brushProperty name="width" value="0.05" units="cm"/>
      <inkml:brushProperty name="height" value="0.05" units="cm"/>
      <inkml:brushProperty name="ignorePressure" value="1"/>
    </inkml:brush>
  </inkml:definitions>
  <inkml:trace contextRef="#ctx0" brushRef="#br0">0 1,'2'18,"0"0,2 0,0 0,0-1,2 1,8 17,10 34,18 59,-35-99,37 118,-40-131,-3-8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4T04:00:39.619"/>
    </inkml:context>
    <inkml:brush xml:id="br0">
      <inkml:brushProperty name="width" value="0.05" units="cm"/>
      <inkml:brushProperty name="height" value="0.05" units="cm"/>
      <inkml:brushProperty name="ignorePressure" value="1"/>
    </inkml:brush>
  </inkml:definitions>
  <inkml:trace contextRef="#ctx0" brushRef="#br0">1 214,'0'-2,"0"1,1 0,-1 0,1 0,-1 0,1 0,0 0,-1 0,1 0,0 1,0-1,-1 0,1 0,0 0,0 1,0-1,2 0,25-15,-13 9,4-4,0 1,27-9,0 0,-37 14,20-8,-1-1,51-34,-56 20,-17 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389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C064"/>
          </a:solidFill>
          <a:ln/>
        </p:spPr>
      </p:sp>
      <p:sp>
        <p:nvSpPr>
          <p:cNvPr id="3" name="Shape 1"/>
          <p:cNvSpPr/>
          <p:nvPr/>
        </p:nvSpPr>
        <p:spPr>
          <a:xfrm>
            <a:off x="0" y="0"/>
            <a:ext cx="12191695" cy="6858000"/>
          </a:xfrm>
          <a:prstGeom prst="rect">
            <a:avLst/>
          </a:prstGeom>
          <a:solidFill>
            <a:srgbClr val="F6EBD4"/>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C064"/>
          </a:solidFill>
          <a:ln/>
        </p:spPr>
      </p:sp>
      <p:sp>
        <p:nvSpPr>
          <p:cNvPr id="3" name="Shape 1"/>
          <p:cNvSpPr/>
          <p:nvPr/>
        </p:nvSpPr>
        <p:spPr>
          <a:xfrm>
            <a:off x="0" y="0"/>
            <a:ext cx="12191695" cy="6858000"/>
          </a:xfrm>
          <a:prstGeom prst="rect">
            <a:avLst/>
          </a:prstGeom>
          <a:solidFill>
            <a:srgbClr val="F6EBD4"/>
          </a:solidFill>
          <a:ln/>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6EBD4">
              <a:alpha val="8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azzetta.eca.usp.br/tutor/acustica/introducao/tabela1.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https://github.com/vitorortiz319-rgb/trabalho.Funcoes.trigonometricas/blob/main/trabalho%20de%20matematica%20dados.xlsx"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github.com/vitorortiz319-rgb/trabalho.Funcoes.trigonometricas/blob/main/gerador%20de%20imagens%20senoidal%20de%20sons.py"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azzetta.eca.usp.br/tutor/acustica/introducao/tabela1.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github.com/vitorortiz319-rgb/trabalho.Funcoes.trigonometricas/blob/main/gerador%20de%20imagens%20senoidal%20de%20sons.py" TargetMode="External"/><Relationship Id="rId4" Type="http://schemas.openxmlformats.org/officeDocument/2006/relationships/hyperlink" Target="https://github.com/vitorortiz319-rgb/trabalho.Funcoes.trigonometricas/blob/main/trabalho%20de%20matematica%20dados.xlsx"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iazzetta.eca.usp.br/tutor/acustica/introducao/tabela1.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hyperlink" Target="https://www.scielo.br/j/rbef/a/ByJfJfMRgGKMjMNscC4vKJc/?lang=pt"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vitorortiz319-rgb/trabalho.Funcoes.trigonometricas/blob/main/Derivando%20a%20funcao.py"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customXml" Target="../ink/ink10.xml"/><Relationship Id="rId26" Type="http://schemas.openxmlformats.org/officeDocument/2006/relationships/customXml" Target="../ink/ink14.xml"/><Relationship Id="rId39" Type="http://schemas.openxmlformats.org/officeDocument/2006/relationships/image" Target="../media/image31.png"/><Relationship Id="rId21" Type="http://schemas.openxmlformats.org/officeDocument/2006/relationships/image" Target="../media/image22.png"/><Relationship Id="rId34" Type="http://schemas.openxmlformats.org/officeDocument/2006/relationships/customXml" Target="../ink/ink18.xml"/><Relationship Id="rId7" Type="http://schemas.openxmlformats.org/officeDocument/2006/relationships/customXml" Target="../ink/ink3.xml"/><Relationship Id="rId2" Type="http://schemas.openxmlformats.org/officeDocument/2006/relationships/notesSlide" Target="../notesSlides/notesSlide13.xml"/><Relationship Id="rId16" Type="http://schemas.openxmlformats.org/officeDocument/2006/relationships/customXml" Target="../ink/ink9.xml"/><Relationship Id="rId20" Type="http://schemas.openxmlformats.org/officeDocument/2006/relationships/customXml" Target="../ink/ink11.xml"/><Relationship Id="rId29" Type="http://schemas.openxmlformats.org/officeDocument/2006/relationships/image" Target="../media/image26.png"/><Relationship Id="rId41"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7.png"/><Relationship Id="rId24" Type="http://schemas.openxmlformats.org/officeDocument/2006/relationships/customXml" Target="../ink/ink13.xml"/><Relationship Id="rId32" Type="http://schemas.openxmlformats.org/officeDocument/2006/relationships/customXml" Target="../ink/ink17.xml"/><Relationship Id="rId37" Type="http://schemas.openxmlformats.org/officeDocument/2006/relationships/image" Target="../media/image30.png"/><Relationship Id="rId40" Type="http://schemas.openxmlformats.org/officeDocument/2006/relationships/customXml" Target="../ink/ink21.xml"/><Relationship Id="rId5" Type="http://schemas.openxmlformats.org/officeDocument/2006/relationships/image" Target="../media/image16.png"/><Relationship Id="rId15" Type="http://schemas.openxmlformats.org/officeDocument/2006/relationships/image" Target="../media/image19.png"/><Relationship Id="rId23" Type="http://schemas.openxmlformats.org/officeDocument/2006/relationships/image" Target="../media/image23.png"/><Relationship Id="rId28" Type="http://schemas.openxmlformats.org/officeDocument/2006/relationships/customXml" Target="../ink/ink15.xml"/><Relationship Id="rId36" Type="http://schemas.openxmlformats.org/officeDocument/2006/relationships/customXml" Target="../ink/ink19.xml"/><Relationship Id="rId10" Type="http://schemas.openxmlformats.org/officeDocument/2006/relationships/customXml" Target="../ink/ink6.xml"/><Relationship Id="rId19" Type="http://schemas.openxmlformats.org/officeDocument/2006/relationships/image" Target="../media/image21.png"/><Relationship Id="rId31" Type="http://schemas.openxmlformats.org/officeDocument/2006/relationships/image" Target="../media/image27.png"/><Relationship Id="rId4" Type="http://schemas.openxmlformats.org/officeDocument/2006/relationships/customXml" Target="../ink/ink1.xml"/><Relationship Id="rId9" Type="http://schemas.openxmlformats.org/officeDocument/2006/relationships/customXml" Target="../ink/ink5.xml"/><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25.png"/><Relationship Id="rId30" Type="http://schemas.openxmlformats.org/officeDocument/2006/relationships/customXml" Target="../ink/ink16.xml"/><Relationship Id="rId35" Type="http://schemas.openxmlformats.org/officeDocument/2006/relationships/image" Target="../media/image29.png"/><Relationship Id="rId8" Type="http://schemas.openxmlformats.org/officeDocument/2006/relationships/customXml" Target="../ink/ink4.xml"/><Relationship Id="rId3" Type="http://schemas.openxmlformats.org/officeDocument/2006/relationships/image" Target="../media/image15.jpeg"/><Relationship Id="rId12" Type="http://schemas.openxmlformats.org/officeDocument/2006/relationships/customXml" Target="../ink/ink7.xml"/><Relationship Id="rId17" Type="http://schemas.openxmlformats.org/officeDocument/2006/relationships/image" Target="../media/image20.png"/><Relationship Id="rId25" Type="http://schemas.openxmlformats.org/officeDocument/2006/relationships/image" Target="../media/image24.png"/><Relationship Id="rId33" Type="http://schemas.openxmlformats.org/officeDocument/2006/relationships/image" Target="../media/image28.png"/><Relationship Id="rId38" Type="http://schemas.openxmlformats.org/officeDocument/2006/relationships/customXml" Target="../ink/ink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iazzetta.eca.usp.br/tutor/acustica/introducao/tabela1.html" TargetMode="Externa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vitorortiz319-trabalho.Funcoes.trigonometricas.git"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iazzetta.eca.usp.br/tutor/acustica/introducao/tabela1.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522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1765697"/>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Funções Trigonométricas</a:t>
            </a:r>
            <a:endParaRPr lang="en-US" sz="3700" dirty="0"/>
          </a:p>
        </p:txBody>
      </p:sp>
      <p:sp>
        <p:nvSpPr>
          <p:cNvPr id="4" name="Text 1"/>
          <p:cNvSpPr/>
          <p:nvPr/>
        </p:nvSpPr>
        <p:spPr>
          <a:xfrm>
            <a:off x="661475" y="2639814"/>
            <a:ext cx="6296860" cy="2452390"/>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Escola de Educação Básica Leovegildo Esmério da Silva</a:t>
            </a:r>
            <a:endParaRPr lang="en-US" sz="1450" dirty="0"/>
          </a:p>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Pedro Vitor · Rayssa · Bruna</a:t>
            </a:r>
            <a:endParaRPr lang="en-US" sz="1450" dirty="0"/>
          </a:p>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Trabalho apresentado como requisito parcial para obtenção de nota na disciplina de Matemática da Escola de Educação Básica Leovegildo Esmério da Silva</a:t>
            </a:r>
            <a:endParaRPr lang="en-US" sz="1450" dirty="0"/>
          </a:p>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Professor: Vanessa Jutel</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800" advTm="1695">
        <p:circle/>
      </p:transition>
    </mc:Choice>
    <mc:Fallback>
      <p:transition spd="slow" advTm="1695">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49473"/>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403011"/>
                </a:solidFill>
                <a:latin typeface="Brygada 1918 SemiBold" pitchFamily="34" charset="0"/>
                <a:ea typeface="Brygada 1918 SemiBold" pitchFamily="34" charset="-122"/>
                <a:cs typeface="Brygada 1918 SemiBold" pitchFamily="34" charset="-120"/>
              </a:rPr>
              <a:t>1. INTRODUÇÃO</a:t>
            </a:r>
            <a:endParaRPr lang="en-US" sz="3500" dirty="0"/>
          </a:p>
        </p:txBody>
      </p:sp>
      <p:sp>
        <p:nvSpPr>
          <p:cNvPr id="3" name="Text 1"/>
          <p:cNvSpPr/>
          <p:nvPr/>
        </p:nvSpPr>
        <p:spPr>
          <a:xfrm>
            <a:off x="661475" y="1520031"/>
            <a:ext cx="3519201" cy="4635004"/>
          </a:xfrm>
          <a:prstGeom prst="rect">
            <a:avLst/>
          </a:prstGeom>
          <a:noFill/>
          <a:ln/>
        </p:spPr>
        <p:txBody>
          <a:bodyPr wrap="square" lIns="0" tIns="0" rIns="0" bIns="0" rtlCol="0" anchor="t">
            <a:normAutofit/>
          </a:bodyPr>
          <a:lstStyle/>
          <a:p>
            <a:pPr marL="0" indent="0" algn="l">
              <a:lnSpc>
                <a:spcPct val="130000"/>
              </a:lnSpc>
              <a:spcAft>
                <a:spcPts val="1200"/>
              </a:spcAft>
              <a:buNone/>
            </a:pPr>
            <a:r>
              <a:rPr lang="en-US" sz="1400" dirty="0">
                <a:solidFill>
                  <a:srgbClr val="403011"/>
                </a:solidFill>
                <a:latin typeface="Brygada 1918" pitchFamily="34" charset="0"/>
                <a:ea typeface="Brygada 1918" pitchFamily="34" charset="-122"/>
                <a:cs typeface="Brygada 1918" pitchFamily="34" charset="-120"/>
              </a:rPr>
              <a:t>O som é um fenômeno físico produzido por vibrações que se propagam através de um meio material, como o ar. Quando uma corda de instrumento musical vibra, por exemplo, ela provoca variações periódicas na pressão do ar. Essas variações chegam aos nossos ouvidos e são interpretadas pelo cérebro como som.</a:t>
            </a:r>
            <a:endParaRPr lang="en-US" sz="1400" dirty="0"/>
          </a:p>
          <a:p>
            <a:pPr marL="0" indent="0" algn="l">
              <a:lnSpc>
                <a:spcPct val="130000"/>
              </a:lnSpc>
              <a:buNone/>
            </a:pPr>
            <a:r>
              <a:rPr lang="en-US" sz="1400" dirty="0">
                <a:solidFill>
                  <a:srgbClr val="403011"/>
                </a:solidFill>
                <a:latin typeface="Brygada 1918" pitchFamily="34" charset="0"/>
                <a:ea typeface="Brygada 1918" pitchFamily="34" charset="-122"/>
                <a:cs typeface="Brygada 1918" pitchFamily="34" charset="-120"/>
              </a:rPr>
              <a:t>As funções trigonométricas são úteis para representar fenômenos que se repetem em intervalos regulares. Uma nota musical pura pode ser aproximada por uma função seno, pois sua onda apresenta um padrão periódico. Neste trabalho, serão analisadas algumas notas como C# 3, D 3, D# 3 e entre outras.</a:t>
            </a:r>
            <a:endParaRPr lang="en-US" sz="1400" dirty="0"/>
          </a:p>
        </p:txBody>
      </p:sp>
      <p:pic>
        <p:nvPicPr>
          <p:cNvPr id="4" name="Image 0" descr="preencoded.png"/>
          <p:cNvPicPr>
            <a:picLocks noChangeAspect="1"/>
          </p:cNvPicPr>
          <p:nvPr/>
        </p:nvPicPr>
        <p:blipFill>
          <a:blip r:embed="rId3"/>
          <a:stretch>
            <a:fillRect/>
          </a:stretch>
        </p:blipFill>
        <p:spPr>
          <a:xfrm>
            <a:off x="4797900" y="1686123"/>
            <a:ext cx="6565736" cy="4302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14673"/>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403011"/>
                </a:solidFill>
                <a:latin typeface="Brygada 1918 SemiBold" pitchFamily="34" charset="0"/>
                <a:ea typeface="Brygada 1918 SemiBold" pitchFamily="34" charset="-122"/>
                <a:cs typeface="Brygada 1918 SemiBold" pitchFamily="34" charset="-120"/>
              </a:rPr>
              <a:t>2. DADOS DAS ONDAS SONORAS</a:t>
            </a:r>
            <a:endParaRPr lang="en-US" sz="2750" dirty="0"/>
          </a:p>
        </p:txBody>
      </p:sp>
      <p:sp>
        <p:nvSpPr>
          <p:cNvPr id="3" name="Text 1"/>
          <p:cNvSpPr/>
          <p:nvPr/>
        </p:nvSpPr>
        <p:spPr>
          <a:xfrm>
            <a:off x="661475" y="1412776"/>
            <a:ext cx="3579227" cy="1580356"/>
          </a:xfrm>
          <a:prstGeom prst="rect">
            <a:avLst/>
          </a:prstGeom>
          <a:noFill/>
          <a:ln/>
        </p:spPr>
        <p:txBody>
          <a:bodyPr wrap="square" lIns="0" tIns="0" rIns="0" bIns="0" rtlCol="0" anchor="t">
            <a:normAutofit/>
          </a:bodyPr>
          <a:lstStyle/>
          <a:p>
            <a:pPr marL="0" indent="0" algn="l">
              <a:lnSpc>
                <a:spcPct val="117000"/>
              </a:lnSpc>
              <a:spcAft>
                <a:spcPts val="750"/>
              </a:spcAft>
              <a:buNone/>
            </a:pPr>
            <a:r>
              <a:rPr lang="en-US" sz="1100" dirty="0">
                <a:solidFill>
                  <a:srgbClr val="403011"/>
                </a:solidFill>
                <a:latin typeface="Brygada 1918" pitchFamily="34" charset="0"/>
                <a:ea typeface="Brygada 1918" pitchFamily="34" charset="-122"/>
                <a:cs typeface="Brygada 1918" pitchFamily="34" charset="-120"/>
              </a:rPr>
              <a:t>Para simplificar a análise, considerou-se amplitude máxima igual a 1, amplitude mínima igual a −1, linha média igual a zero e início da onda no instante t=0, cruzando a linha média no sentido crescente.</a:t>
            </a:r>
            <a:endParaRPr lang="en-US" sz="1100" dirty="0"/>
          </a:p>
          <a:p>
            <a:pPr marL="0" indent="0" algn="l">
              <a:lnSpc>
                <a:spcPct val="117000"/>
              </a:lnSpc>
              <a:spcAft>
                <a:spcPts val="750"/>
              </a:spcAft>
              <a:buNone/>
            </a:pPr>
            <a:r>
              <a:rPr lang="en-US" sz="1100" dirty="0">
                <a:solidFill>
                  <a:srgbClr val="403011"/>
                </a:solidFill>
                <a:latin typeface="Brygada 1918" pitchFamily="34" charset="0"/>
                <a:ea typeface="Brygada 1918" pitchFamily="34" charset="-122"/>
                <a:cs typeface="Brygada 1918" pitchFamily="34" charset="-120"/>
              </a:rPr>
              <a:t>Como os Hertz são os "ciclos por segundo" podemos calcular o período com uma simples formula:</a:t>
            </a:r>
            <a:endParaRPr lang="en-US" sz="1100" dirty="0"/>
          </a:p>
          <a:p>
            <a:pPr marL="0" indent="0" algn="l">
              <a:lnSpc>
                <a:spcPct val="117000"/>
              </a:lnSpc>
              <a:buNone/>
            </a:pPr>
            <a:r>
              <a:rPr lang="en-US" sz="1100" b="1" dirty="0">
                <a:solidFill>
                  <a:srgbClr val="403011"/>
                </a:solidFill>
                <a:latin typeface="Brygada 1918 Bold" pitchFamily="34" charset="0"/>
                <a:ea typeface="Brygada 1918 Bold" pitchFamily="34" charset="-122"/>
                <a:cs typeface="Brygada 1918 Bold" pitchFamily="34" charset="-120"/>
              </a:rPr>
              <a:t>P = 1 / f</a:t>
            </a:r>
            <a:endParaRPr lang="en-US" sz="1100" dirty="0"/>
          </a:p>
        </p:txBody>
      </p:sp>
      <p:sp>
        <p:nvSpPr>
          <p:cNvPr id="4" name="Text 2"/>
          <p:cNvSpPr/>
          <p:nvPr/>
        </p:nvSpPr>
        <p:spPr>
          <a:xfrm>
            <a:off x="661475" y="3099395"/>
            <a:ext cx="3579227" cy="1063228"/>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403011"/>
                </a:solidFill>
                <a:latin typeface="Brygada 1918 SemiBold" pitchFamily="34" charset="0"/>
                <a:ea typeface="Brygada 1918 SemiBold" pitchFamily="34" charset="-122"/>
                <a:cs typeface="Brygada 1918 SemiBold" pitchFamily="34" charset="-120"/>
              </a:rPr>
              <a:t>Em que P é o período em segundos e f é a frequência em hertz.</a:t>
            </a:r>
            <a:endParaRPr lang="en-US" sz="2200" dirty="0"/>
          </a:p>
        </p:txBody>
      </p:sp>
      <p:sp>
        <p:nvSpPr>
          <p:cNvPr id="5" name="Text 3"/>
          <p:cNvSpPr/>
          <p:nvPr/>
        </p:nvSpPr>
        <p:spPr>
          <a:xfrm>
            <a:off x="661475" y="4268887"/>
            <a:ext cx="3579227" cy="1778794"/>
          </a:xfrm>
          <a:prstGeom prst="rect">
            <a:avLst/>
          </a:prstGeom>
          <a:noFill/>
          <a:ln/>
        </p:spPr>
        <p:txBody>
          <a:bodyPr wrap="square" lIns="0" tIns="0" rIns="0" bIns="0" rtlCol="0" anchor="t">
            <a:normAutofit/>
          </a:bodyPr>
          <a:lstStyle/>
          <a:p>
            <a:pPr marL="0" indent="0" algn="l">
              <a:lnSpc>
                <a:spcPct val="117000"/>
              </a:lnSpc>
              <a:spcAft>
                <a:spcPts val="750"/>
              </a:spcAft>
              <a:buNone/>
            </a:pPr>
            <a:r>
              <a:rPr lang="en-US" sz="1100" dirty="0">
                <a:solidFill>
                  <a:srgbClr val="403011"/>
                </a:solidFill>
                <a:latin typeface="Brygada 1918" pitchFamily="34" charset="0"/>
                <a:ea typeface="Brygada 1918" pitchFamily="34" charset="-122"/>
                <a:cs typeface="Brygada 1918" pitchFamily="34" charset="-120"/>
              </a:rPr>
              <a:t>Os dados de dessa tabela foram obtidos de: </a:t>
            </a:r>
            <a:r>
              <a:rPr lang="en-US" sz="1100" b="1" u="sng" dirty="0">
                <a:solidFill>
                  <a:srgbClr val="626C3B"/>
                </a:solidFill>
                <a:latin typeface="Brygada 1918 Bold" pitchFamily="34" charset="0"/>
                <a:ea typeface="Brygada 1918 Bold" pitchFamily="34" charset="-122"/>
                <a:cs typeface="Brygada 1918 Bold" pitchFamily="34" charset="-120"/>
                <a:hlinkClick r:id="rId3">
                  <a:extLst>
                    <a:ext uri="{A12FA001-AC4F-418D-AE19-62706E023703}">
                      <ahyp:hlinkClr xmlns:ahyp="http://schemas.microsoft.com/office/drawing/2018/hyperlinkcolor" val="tx"/>
                    </a:ext>
                  </a:extLst>
                </a:hlinkClick>
              </a:rPr>
              <a:t>https://iazzetta.eca.usp.br/tutor/acustica/introducao/tabela1.html</a:t>
            </a:r>
            <a:endParaRPr lang="en-US" sz="1100" dirty="0"/>
          </a:p>
          <a:p>
            <a:pPr marL="0" indent="0" algn="l">
              <a:lnSpc>
                <a:spcPct val="117000"/>
              </a:lnSpc>
              <a:spcAft>
                <a:spcPts val="750"/>
              </a:spcAft>
              <a:buNone/>
            </a:pPr>
            <a:r>
              <a:rPr lang="en-US" sz="1100" dirty="0">
                <a:solidFill>
                  <a:srgbClr val="403011"/>
                </a:solidFill>
                <a:latin typeface="Brygada 1918" pitchFamily="34" charset="0"/>
                <a:ea typeface="Brygada 1918" pitchFamily="34" charset="-122"/>
                <a:cs typeface="Brygada 1918" pitchFamily="34" charset="-120"/>
              </a:rPr>
              <a:t>Data de acesso: 13/09/2026</a:t>
            </a:r>
            <a:endParaRPr lang="en-US" sz="1100" dirty="0"/>
          </a:p>
          <a:p>
            <a:pPr marL="0" indent="0" algn="l">
              <a:lnSpc>
                <a:spcPct val="117000"/>
              </a:lnSpc>
              <a:buNone/>
            </a:pPr>
            <a:r>
              <a:rPr lang="en-US" sz="1100" dirty="0">
                <a:solidFill>
                  <a:srgbClr val="403011"/>
                </a:solidFill>
                <a:latin typeface="Brygada 1918" pitchFamily="34" charset="0"/>
                <a:ea typeface="Brygada 1918" pitchFamily="34" charset="-122"/>
                <a:cs typeface="Brygada 1918" pitchFamily="34" charset="-120"/>
              </a:rPr>
              <a:t>A tabela completa (o arquivo XLSX) está disponível em: </a:t>
            </a:r>
            <a:r>
              <a:rPr lang="en-US" sz="1100" b="1" u="sng" dirty="0">
                <a:solidFill>
                  <a:srgbClr val="626C3B"/>
                </a:solidFill>
                <a:latin typeface="Brygada 1918 Bold" pitchFamily="34" charset="0"/>
                <a:ea typeface="Brygada 1918 Bold" pitchFamily="34" charset="-122"/>
                <a:cs typeface="Brygada 1918 Bold" pitchFamily="34" charset="-120"/>
                <a:hlinkClick r:id="rId4">
                  <a:extLst>
                    <a:ext uri="{A12FA001-AC4F-418D-AE19-62706E023703}">
                      <ahyp:hlinkClr xmlns:ahyp="http://schemas.microsoft.com/office/drawing/2018/hyperlinkcolor" val="tx"/>
                    </a:ext>
                  </a:extLst>
                </a:hlinkClick>
              </a:rPr>
              <a:t>https://github.com/vitorortiz319-rgb/trabalho.Funcoes.trigonometricas/blob/main/trabalho%20de%20matematica%20dados.xlsx</a:t>
            </a:r>
            <a:endParaRPr lang="en-US" sz="1100" dirty="0"/>
          </a:p>
        </p:txBody>
      </p:sp>
      <p:pic>
        <p:nvPicPr>
          <p:cNvPr id="6" name="Image 0" descr="preencoded.png"/>
          <p:cNvPicPr>
            <a:picLocks noChangeAspect="1"/>
          </p:cNvPicPr>
          <p:nvPr/>
        </p:nvPicPr>
        <p:blipFill>
          <a:blip r:embed="rId5"/>
          <a:stretch>
            <a:fillRect/>
          </a:stretch>
        </p:blipFill>
        <p:spPr>
          <a:xfrm>
            <a:off x="5481897" y="2232819"/>
            <a:ext cx="5165497" cy="2994819"/>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9530"/>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403011"/>
                </a:solidFill>
                <a:latin typeface="Brygada 1918 SemiBold" pitchFamily="34" charset="0"/>
                <a:ea typeface="Brygada 1918 SemiBold" pitchFamily="34" charset="-122"/>
                <a:cs typeface="Brygada 1918 SemiBold" pitchFamily="34" charset="-120"/>
              </a:rPr>
              <a:t>3. CONSTRUIR O GRÁFICO</a:t>
            </a:r>
            <a:endParaRPr lang="en-US" sz="2750" dirty="0"/>
          </a:p>
        </p:txBody>
      </p:sp>
      <p:sp>
        <p:nvSpPr>
          <p:cNvPr id="3" name="Text 1"/>
          <p:cNvSpPr/>
          <p:nvPr/>
        </p:nvSpPr>
        <p:spPr>
          <a:xfrm>
            <a:off x="661475" y="1185168"/>
            <a:ext cx="11478330" cy="198438"/>
          </a:xfrm>
          <a:prstGeom prst="rect">
            <a:avLst/>
          </a:prstGeom>
          <a:noFill/>
          <a:ln/>
        </p:spPr>
        <p:txBody>
          <a:bodyPr wrap="none" lIns="0" tIns="0" rIns="0" bIns="0" rtlCol="0" anchor="t"/>
          <a:lstStyle/>
          <a:p>
            <a:pPr marL="0" indent="0" algn="l">
              <a:lnSpc>
                <a:spcPct val="117000"/>
              </a:lnSpc>
              <a:buNone/>
            </a:pPr>
            <a:r>
              <a:rPr lang="en-US" sz="1100" dirty="0">
                <a:solidFill>
                  <a:srgbClr val="403011"/>
                </a:solidFill>
                <a:latin typeface="Brygada 1918" pitchFamily="34" charset="0"/>
                <a:ea typeface="Brygada 1918" pitchFamily="34" charset="-122"/>
                <a:cs typeface="Brygada 1918" pitchFamily="34" charset="-120"/>
              </a:rPr>
              <a:t>Parra o nosso gráfico vamos pegar por exemplo a nota F# 3</a:t>
            </a:r>
            <a:endParaRPr lang="en-US" sz="1100" dirty="0"/>
          </a:p>
        </p:txBody>
      </p:sp>
      <p:pic>
        <p:nvPicPr>
          <p:cNvPr id="4" name="Image 0" descr="preencoded.png"/>
          <p:cNvPicPr>
            <a:picLocks noChangeAspect="1"/>
          </p:cNvPicPr>
          <p:nvPr/>
        </p:nvPicPr>
        <p:blipFill>
          <a:blip r:embed="rId3"/>
          <a:stretch>
            <a:fillRect/>
          </a:stretch>
        </p:blipFill>
        <p:spPr>
          <a:xfrm>
            <a:off x="661475" y="1503164"/>
            <a:ext cx="8151509" cy="3990876"/>
          </a:xfrm>
          <a:prstGeom prst="rect">
            <a:avLst/>
          </a:prstGeom>
        </p:spPr>
      </p:pic>
      <p:sp>
        <p:nvSpPr>
          <p:cNvPr id="5" name="Text 2"/>
          <p:cNvSpPr/>
          <p:nvPr/>
        </p:nvSpPr>
        <p:spPr>
          <a:xfrm>
            <a:off x="661475" y="5613598"/>
            <a:ext cx="10868745" cy="714871"/>
          </a:xfrm>
          <a:prstGeom prst="rect">
            <a:avLst/>
          </a:prstGeom>
          <a:noFill/>
          <a:ln/>
        </p:spPr>
        <p:txBody>
          <a:bodyPr wrap="square" lIns="0" tIns="0" rIns="0" bIns="0" rtlCol="0" anchor="t"/>
          <a:lstStyle/>
          <a:p>
            <a:pPr marL="0" indent="0" algn="l">
              <a:lnSpc>
                <a:spcPct val="117000"/>
              </a:lnSpc>
              <a:spcAft>
                <a:spcPts val="900"/>
              </a:spcAft>
              <a:buNone/>
            </a:pPr>
            <a:r>
              <a:rPr lang="en-US" sz="1100" dirty="0">
                <a:solidFill>
                  <a:srgbClr val="403011"/>
                </a:solidFill>
                <a:latin typeface="Brygada 1918" pitchFamily="34" charset="0"/>
                <a:ea typeface="Brygada 1918" pitchFamily="34" charset="-122"/>
                <a:cs typeface="Brygada 1918" pitchFamily="34" charset="-120"/>
              </a:rPr>
              <a:t>Que sua frequência é de 369Hz. Podemos montar o seguinte gráfico:</a:t>
            </a:r>
            <a:endParaRPr lang="en-US" sz="1100" dirty="0"/>
          </a:p>
          <a:p>
            <a:pPr marL="0" indent="0" algn="l">
              <a:lnSpc>
                <a:spcPct val="117000"/>
              </a:lnSpc>
              <a:buNone/>
            </a:pPr>
            <a:r>
              <a:rPr lang="en-US" sz="1100" dirty="0">
                <a:solidFill>
                  <a:srgbClr val="403011"/>
                </a:solidFill>
                <a:latin typeface="Brygada 1918" pitchFamily="34" charset="0"/>
                <a:ea typeface="Brygada 1918" pitchFamily="34" charset="-122"/>
                <a:cs typeface="Brygada 1918" pitchFamily="34" charset="-120"/>
              </a:rPr>
              <a:t>Gráfico feito em python (gerador de imagens senoidal de sons.py), disponível em: </a:t>
            </a:r>
            <a:r>
              <a:rPr lang="en-US" sz="1100" b="1" u="sng" dirty="0">
                <a:solidFill>
                  <a:srgbClr val="626C3B"/>
                </a:solidFill>
                <a:latin typeface="Brygada 1918 Bold" pitchFamily="34" charset="0"/>
                <a:ea typeface="Brygada 1918 Bold" pitchFamily="34" charset="-122"/>
                <a:cs typeface="Brygada 1918 Bold" pitchFamily="34" charset="-120"/>
                <a:hlinkClick r:id="rId4">
                  <a:extLst>
                    <a:ext uri="{A12FA001-AC4F-418D-AE19-62706E023703}">
                      <ahyp:hlinkClr xmlns:ahyp="http://schemas.microsoft.com/office/drawing/2018/hyperlinkcolor" val="tx"/>
                    </a:ext>
                  </a:extLst>
                </a:hlinkClick>
              </a:rPr>
              <a:t>https://github.com/vitorortiz319-rgb/trabalho.Funcoes.trigonometricas/blob/main/gerador%20de%20imagens%20senoidal%20de%20sons.py</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44922"/>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403011"/>
                </a:solidFill>
                <a:latin typeface="Brygada 1918 SemiBold" pitchFamily="34" charset="0"/>
                <a:ea typeface="Brygada 1918 SemiBold" pitchFamily="34" charset="-122"/>
                <a:cs typeface="Brygada 1918 SemiBold" pitchFamily="34" charset="-120"/>
              </a:rPr>
              <a:t>4. ENCONTRAR OS PARÂMETROS</a:t>
            </a:r>
            <a:endParaRPr lang="en-US" sz="3150" dirty="0"/>
          </a:p>
        </p:txBody>
      </p:sp>
      <p:sp>
        <p:nvSpPr>
          <p:cNvPr id="3" name="Text 1"/>
          <p:cNvSpPr/>
          <p:nvPr/>
        </p:nvSpPr>
        <p:spPr>
          <a:xfrm>
            <a:off x="661475" y="1201539"/>
            <a:ext cx="10868745" cy="401638"/>
          </a:xfrm>
          <a:prstGeom prst="rect">
            <a:avLst/>
          </a:prstGeom>
          <a:noFill/>
          <a:ln/>
        </p:spPr>
        <p:txBody>
          <a:bodyPr wrap="none" lIns="0" tIns="0" rIns="0" bIns="0" rtlCol="0" anchor="t"/>
          <a:lstStyle/>
          <a:p>
            <a:pPr marL="0" indent="0" algn="l">
              <a:lnSpc>
                <a:spcPct val="104000"/>
              </a:lnSpc>
              <a:buNone/>
            </a:pPr>
            <a:r>
              <a:rPr lang="en-US" sz="2500" dirty="0">
                <a:solidFill>
                  <a:srgbClr val="403011"/>
                </a:solidFill>
                <a:latin typeface="Brygada 1918 SemiBold" pitchFamily="34" charset="0"/>
                <a:ea typeface="Brygada 1918 SemiBold" pitchFamily="34" charset="-122"/>
                <a:cs typeface="Brygada 1918 SemiBold" pitchFamily="34" charset="-120"/>
              </a:rPr>
              <a:t>4.1.1 CÁLCULO DE a E b</a:t>
            </a:r>
            <a:endParaRPr lang="en-US" sz="2500" dirty="0"/>
          </a:p>
        </p:txBody>
      </p:sp>
      <p:sp>
        <p:nvSpPr>
          <p:cNvPr id="4" name="Text 2"/>
          <p:cNvSpPr/>
          <p:nvPr/>
        </p:nvSpPr>
        <p:spPr>
          <a:xfrm>
            <a:off x="661475" y="1807964"/>
            <a:ext cx="10868745" cy="1817688"/>
          </a:xfrm>
          <a:prstGeom prst="rect">
            <a:avLst/>
          </a:prstGeom>
          <a:noFill/>
          <a:ln/>
        </p:spPr>
        <p:txBody>
          <a:bodyPr wrap="square" lIns="0" tIns="0" rIns="0" bIns="0" rtlCol="0" anchor="t">
            <a:normAutofit/>
          </a:bodyPr>
          <a:lstStyle/>
          <a:p>
            <a:pPr marL="0" indent="0" algn="l">
              <a:lnSpc>
                <a:spcPct val="123000"/>
              </a:lnSpc>
              <a:spcAft>
                <a:spcPts val="1200"/>
              </a:spcAft>
              <a:buNone/>
            </a:pPr>
            <a:r>
              <a:rPr lang="en-US" sz="1250" dirty="0">
                <a:solidFill>
                  <a:srgbClr val="403011"/>
                </a:solidFill>
                <a:latin typeface="Brygada 1918" pitchFamily="34" charset="0"/>
                <a:ea typeface="Brygada 1918" pitchFamily="34" charset="-122"/>
                <a:cs typeface="Brygada 1918" pitchFamily="34" charset="-120"/>
              </a:rPr>
              <a:t>Para encontrar o parâmetro a , a conta exigida é máximo − minimo 2 e maximo + minimo 2 . Diferente de outros fenômenos do mundo real (como a altura da maré ou a temperatura), onde os limites oscilam entre valores positivos que representam grandezas físicas absolutas (como metros ou graus Celsius), o comportamento da onda sonora captada em softwares de áudio é diferente.</a:t>
            </a:r>
            <a:endParaRPr lang="en-US" sz="1250" dirty="0"/>
          </a:p>
          <a:p>
            <a:pPr marL="0" indent="0" algn="l">
              <a:lnSpc>
                <a:spcPct val="123000"/>
              </a:lnSpc>
              <a:buNone/>
            </a:pPr>
            <a:r>
              <a:rPr lang="en-US" sz="1250" dirty="0">
                <a:solidFill>
                  <a:srgbClr val="403011"/>
                </a:solidFill>
                <a:latin typeface="Brygada 1918" pitchFamily="34" charset="0"/>
                <a:ea typeface="Brygada 1918" pitchFamily="34" charset="-122"/>
                <a:cs typeface="Brygada 1918" pitchFamily="34" charset="-120"/>
              </a:rPr>
              <a:t>No caso do som, o eixo vertical do gráfico não representa diretamente um valor "real" de pressão, mas sim a amplitude da variação da pressão do ar. Ao gerarmos a nota musical no programa, a onda sonora é normalizada. Isso significa que seus valores são ajustados para uma escala entre −1 e +1. O valor máximo +1, representa o ponto de maior compressão relativa do ar, enquanto o valor mínimo −1, representa o ponto de maior rarefação (menor pressão). Portanto, esses valores são normalizados e não correspondem diretamente a uma pressão em pascais (Pa).</a:t>
            </a:r>
            <a:endParaRPr lang="en-US" sz="1250" dirty="0"/>
          </a:p>
        </p:txBody>
      </p:sp>
      <p:sp>
        <p:nvSpPr>
          <p:cNvPr id="5" name="Shape 3"/>
          <p:cNvSpPr/>
          <p:nvPr/>
        </p:nvSpPr>
        <p:spPr>
          <a:xfrm>
            <a:off x="545789" y="3779242"/>
            <a:ext cx="5469793" cy="2433836"/>
          </a:xfrm>
          <a:prstGeom prst="roundRect">
            <a:avLst>
              <a:gd name="adj" fmla="val 15843"/>
            </a:avLst>
          </a:prstGeom>
          <a:solidFill>
            <a:srgbClr val="626C3B"/>
          </a:solidFill>
          <a:ln/>
        </p:spPr>
      </p:sp>
      <p:sp>
        <p:nvSpPr>
          <p:cNvPr id="6" name="Text 4"/>
          <p:cNvSpPr/>
          <p:nvPr/>
        </p:nvSpPr>
        <p:spPr>
          <a:xfrm>
            <a:off x="706420" y="3915767"/>
            <a:ext cx="5148531" cy="251023"/>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Brygada 1918 SemiBold" pitchFamily="34" charset="0"/>
                <a:ea typeface="Brygada 1918 SemiBold" pitchFamily="34" charset="-122"/>
                <a:cs typeface="Brygada 1918 SemiBold" pitchFamily="34" charset="-120"/>
              </a:rPr>
              <a:t>Cálculo de a</a:t>
            </a:r>
            <a:endParaRPr lang="en-US" sz="1550" dirty="0"/>
          </a:p>
        </p:txBody>
      </p:sp>
      <p:sp>
        <p:nvSpPr>
          <p:cNvPr id="7" name="Text 5"/>
          <p:cNvSpPr/>
          <p:nvPr/>
        </p:nvSpPr>
        <p:spPr>
          <a:xfrm>
            <a:off x="706420" y="4303316"/>
            <a:ext cx="5758115" cy="237728"/>
          </a:xfrm>
          <a:prstGeom prst="rect">
            <a:avLst/>
          </a:prstGeom>
          <a:noFill/>
          <a:ln/>
        </p:spPr>
        <p:txBody>
          <a:bodyPr wrap="none" lIns="0" tIns="0" rIns="0" bIns="0" rtlCol="0" anchor="t"/>
          <a:lstStyle/>
          <a:p>
            <a:pPr marL="0" indent="0" algn="l">
              <a:lnSpc>
                <a:spcPct val="123000"/>
              </a:lnSpc>
              <a:buNone/>
            </a:pPr>
            <a:r>
              <a:rPr lang="en-US" sz="1250" dirty="0">
                <a:solidFill>
                  <a:srgbClr val="FFFFFF"/>
                </a:solidFill>
                <a:latin typeface="Brygada 1918" pitchFamily="34" charset="0"/>
                <a:ea typeface="Brygada 1918" pitchFamily="34" charset="-122"/>
                <a:cs typeface="Brygada 1918" pitchFamily="34" charset="-120"/>
              </a:rPr>
              <a:t>1 + ( − 1 ) 2 = 0 2 = 0 = a</a:t>
            </a:r>
            <a:endParaRPr lang="en-US" sz="1250" dirty="0"/>
          </a:p>
        </p:txBody>
      </p:sp>
      <p:sp>
        <p:nvSpPr>
          <p:cNvPr id="8" name="Text 6"/>
          <p:cNvSpPr/>
          <p:nvPr/>
        </p:nvSpPr>
        <p:spPr>
          <a:xfrm>
            <a:off x="6298149" y="3915767"/>
            <a:ext cx="5238421" cy="251023"/>
          </a:xfrm>
          <a:prstGeom prst="rect">
            <a:avLst/>
          </a:prstGeom>
          <a:noFill/>
          <a:ln/>
        </p:spPr>
        <p:txBody>
          <a:bodyPr wrap="none" lIns="0" tIns="0" rIns="0" bIns="0" rtlCol="0" anchor="t"/>
          <a:lstStyle/>
          <a:p>
            <a:pPr marL="0" indent="0" algn="l">
              <a:lnSpc>
                <a:spcPct val="104000"/>
              </a:lnSpc>
              <a:buNone/>
            </a:pPr>
            <a:r>
              <a:rPr lang="en-US" sz="1550" dirty="0">
                <a:solidFill>
                  <a:srgbClr val="403011"/>
                </a:solidFill>
                <a:latin typeface="Brygada 1918 SemiBold" pitchFamily="34" charset="0"/>
                <a:ea typeface="Brygada 1918 SemiBold" pitchFamily="34" charset="-122"/>
                <a:cs typeface="Brygada 1918 SemiBold" pitchFamily="34" charset="-120"/>
              </a:rPr>
              <a:t>Cálculo de b</a:t>
            </a:r>
            <a:endParaRPr lang="en-US" sz="1550" dirty="0"/>
          </a:p>
        </p:txBody>
      </p:sp>
      <p:sp>
        <p:nvSpPr>
          <p:cNvPr id="9" name="Text 7"/>
          <p:cNvSpPr/>
          <p:nvPr/>
        </p:nvSpPr>
        <p:spPr>
          <a:xfrm>
            <a:off x="6298149" y="4303316"/>
            <a:ext cx="5238421" cy="1786930"/>
          </a:xfrm>
          <a:prstGeom prst="rect">
            <a:avLst/>
          </a:prstGeom>
          <a:noFill/>
          <a:ln/>
        </p:spPr>
        <p:txBody>
          <a:bodyPr wrap="square" lIns="0" tIns="0" rIns="0" bIns="0" rtlCol="0" anchor="t"/>
          <a:lstStyle/>
          <a:p>
            <a:pPr marL="0" indent="0" algn="l">
              <a:lnSpc>
                <a:spcPct val="123000"/>
              </a:lnSpc>
              <a:spcAft>
                <a:spcPts val="950"/>
              </a:spcAft>
              <a:buNone/>
            </a:pPr>
            <a:r>
              <a:rPr lang="en-US" sz="1250" dirty="0">
                <a:solidFill>
                  <a:srgbClr val="403011"/>
                </a:solidFill>
                <a:latin typeface="Brygada 1918" pitchFamily="34" charset="0"/>
                <a:ea typeface="Brygada 1918" pitchFamily="34" charset="-122"/>
                <a:cs typeface="Brygada 1918" pitchFamily="34" charset="-120"/>
              </a:rPr>
              <a:t>1 − ( − 1 ) 2 = 2 2 = 1 = b</a:t>
            </a:r>
            <a:endParaRPr lang="en-US" sz="1250" dirty="0"/>
          </a:p>
          <a:p>
            <a:pPr marL="0" indent="0" algn="l">
              <a:lnSpc>
                <a:spcPct val="123000"/>
              </a:lnSpc>
              <a:buNone/>
            </a:pPr>
            <a:r>
              <a:rPr lang="en-US" sz="1250" dirty="0">
                <a:solidFill>
                  <a:srgbClr val="403011"/>
                </a:solidFill>
                <a:latin typeface="Brygada 1918" pitchFamily="34" charset="0"/>
                <a:ea typeface="Brygada 1918" pitchFamily="34" charset="-122"/>
                <a:cs typeface="Brygada 1918" pitchFamily="34" charset="-120"/>
              </a:rPr>
              <a:t>Isso indica que o valor médio em torno do qual o fenômeno oscila é zero. Na acústica, isso faz sentido porque a onda sonora não aumenta ou diminui a pressão do ar de forma permanente. Ela apenas faz a pressão variar para cima e para baixo em torno da pressão atmosférica normal, que consideramos como nosso ponto de equilíbrio, ou zero.</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867396"/>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7. REFERÊNCIAS BIBLIOGRÁFICAS</a:t>
            </a:r>
            <a:endParaRPr lang="en-US" sz="3700" dirty="0"/>
          </a:p>
        </p:txBody>
      </p:sp>
      <p:sp>
        <p:nvSpPr>
          <p:cNvPr id="3" name="Text 1"/>
          <p:cNvSpPr/>
          <p:nvPr/>
        </p:nvSpPr>
        <p:spPr>
          <a:xfrm>
            <a:off x="661475" y="2741513"/>
            <a:ext cx="10868745" cy="2249091"/>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3011"/>
                </a:solidFill>
                <a:latin typeface="Brygada 1918" pitchFamily="34" charset="0"/>
                <a:ea typeface="Brygada 1918" pitchFamily="34" charset="-122"/>
                <a:cs typeface="Brygada 1918" pitchFamily="34" charset="-120"/>
              </a:rPr>
              <a:t>IAZZETTA, F. Acústica Musical: Notas e Frequências. Disponível em: </a:t>
            </a:r>
            <a:r>
              <a:rPr lang="en-US" sz="1450" b="1" u="sng" dirty="0">
                <a:solidFill>
                  <a:srgbClr val="626C3B"/>
                </a:solidFill>
                <a:latin typeface="Brygada 1918 Bold" pitchFamily="34" charset="0"/>
                <a:ea typeface="Brygada 1918 Bold" pitchFamily="34" charset="-122"/>
                <a:cs typeface="Brygada 1918 Bold" pitchFamily="34" charset="-120"/>
                <a:hlinkClick r:id="rId3">
                  <a:extLst>
                    <a:ext uri="{A12FA001-AC4F-418D-AE19-62706E023703}">
                      <ahyp:hlinkClr xmlns:ahyp="http://schemas.microsoft.com/office/drawing/2018/hyperlinkcolor" val="tx"/>
                    </a:ext>
                  </a:extLst>
                </a:hlinkClick>
              </a:rPr>
              <a:t>https://iazzetta.eca.usp.br/tutor/acustica/introducao/tabela1.html</a:t>
            </a:r>
            <a:r>
              <a:rPr lang="en-US" sz="1450" dirty="0">
                <a:solidFill>
                  <a:srgbClr val="403011"/>
                </a:solidFill>
                <a:latin typeface="Brygada 1918" pitchFamily="34" charset="0"/>
                <a:ea typeface="Brygada 1918" pitchFamily="34" charset="-122"/>
                <a:cs typeface="Brygada 1918" pitchFamily="34" charset="-120"/>
              </a:rPr>
              <a:t>. Acesso em: 13 set. 2026.</a:t>
            </a:r>
            <a:endParaRPr lang="en-US" sz="1450" dirty="0"/>
          </a:p>
          <a:p>
            <a:pPr marL="294640" indent="-294640" algn="l">
              <a:lnSpc>
                <a:spcPct val="133000"/>
              </a:lnSpc>
              <a:buSzPct val="100000"/>
              <a:buChar char="•"/>
            </a:pPr>
            <a:r>
              <a:rPr lang="en-US" sz="1450" dirty="0">
                <a:solidFill>
                  <a:srgbClr val="403011"/>
                </a:solidFill>
                <a:latin typeface="Brygada 1918" pitchFamily="34" charset="0"/>
                <a:ea typeface="Brygada 1918" pitchFamily="34" charset="-122"/>
                <a:cs typeface="Brygada 1918" pitchFamily="34" charset="-120"/>
              </a:rPr>
              <a:t>ORTIZ, V. Repositório de trabalhos de Funções Trigonométricas (arquivo XLSX). Disponível em: </a:t>
            </a:r>
            <a:r>
              <a:rPr lang="en-US" sz="1450" b="1" u="sng" dirty="0">
                <a:solidFill>
                  <a:srgbClr val="626C3B"/>
                </a:solidFill>
                <a:latin typeface="Brygada 1918 Bold" pitchFamily="34" charset="0"/>
                <a:ea typeface="Brygada 1918 Bold" pitchFamily="34" charset="-122"/>
                <a:cs typeface="Brygada 1918 Bold" pitchFamily="34" charset="-120"/>
                <a:hlinkClick r:id="rId4">
                  <a:extLst>
                    <a:ext uri="{A12FA001-AC4F-418D-AE19-62706E023703}">
                      <ahyp:hlinkClr xmlns:ahyp="http://schemas.microsoft.com/office/drawing/2018/hyperlinkcolor" val="tx"/>
                    </a:ext>
                  </a:extLst>
                </a:hlinkClick>
              </a:rPr>
              <a:t>https://github.com/vitorortiz319-rgb/trabalho.Funcoes.trigonometricas/blob/main/trabalho%20de%20matematica%20dados.xlsx</a:t>
            </a:r>
            <a:r>
              <a:rPr lang="en-US" sz="1450" dirty="0">
                <a:solidFill>
                  <a:srgbClr val="403011"/>
                </a:solidFill>
                <a:latin typeface="Brygada 1918" pitchFamily="34" charset="0"/>
                <a:ea typeface="Brygada 1918" pitchFamily="34" charset="-122"/>
                <a:cs typeface="Brygada 1918" pitchFamily="34" charset="-120"/>
              </a:rPr>
              <a:t>.</a:t>
            </a:r>
            <a:endParaRPr lang="en-US" sz="1450" dirty="0"/>
          </a:p>
          <a:p>
            <a:pPr marL="294640" indent="-294640" algn="l">
              <a:lnSpc>
                <a:spcPct val="133000"/>
              </a:lnSpc>
              <a:buSzPct val="100000"/>
              <a:buChar char="•"/>
            </a:pPr>
            <a:r>
              <a:rPr lang="en-US" sz="1450" dirty="0">
                <a:solidFill>
                  <a:srgbClr val="403011"/>
                </a:solidFill>
                <a:latin typeface="Brygada 1918" pitchFamily="34" charset="0"/>
                <a:ea typeface="Brygada 1918" pitchFamily="34" charset="-122"/>
                <a:cs typeface="Brygada 1918" pitchFamily="34" charset="-120"/>
              </a:rPr>
              <a:t>ORTIZ, V. Gerador de imagens senoidal de sons (código Python). Disponível em: </a:t>
            </a:r>
            <a:r>
              <a:rPr lang="en-US" sz="1450" b="1" u="sng" dirty="0">
                <a:solidFill>
                  <a:srgbClr val="626C3B"/>
                </a:solidFill>
                <a:latin typeface="Brygada 1918 Bold" pitchFamily="34" charset="0"/>
                <a:ea typeface="Brygada 1918 Bold" pitchFamily="34" charset="-122"/>
                <a:cs typeface="Brygada 1918 Bold" pitchFamily="34" charset="-120"/>
                <a:hlinkClick r:id="rId5">
                  <a:extLst>
                    <a:ext uri="{A12FA001-AC4F-418D-AE19-62706E023703}">
                      <ahyp:hlinkClr xmlns:ahyp="http://schemas.microsoft.com/office/drawing/2018/hyperlinkcolor" val="tx"/>
                    </a:ext>
                  </a:extLst>
                </a:hlinkClick>
              </a:rPr>
              <a:t>https://github.com/vitorortiz319-rgb/trabalho.Funcoes.trigonometricas/blob/main/gerador%20de%20imagens%20senoidal%20de%20sons.py</a:t>
            </a:r>
            <a:r>
              <a:rPr lang="en-US" sz="1450" dirty="0">
                <a:solidFill>
                  <a:srgbClr val="403011"/>
                </a:solidFill>
                <a:latin typeface="Brygada 1918" pitchFamily="34" charset="0"/>
                <a:ea typeface="Brygada 1918" pitchFamily="34" charset="-122"/>
                <a:cs typeface="Brygada 1918" pitchFamily="34" charset="-120"/>
              </a:rPr>
              <a: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41933"/>
            <a:ext cx="10868745" cy="1122363"/>
          </a:xfrm>
          <a:prstGeom prst="rect">
            <a:avLst/>
          </a:prstGeom>
          <a:noFill/>
          <a:ln/>
        </p:spPr>
        <p:txBody>
          <a:bodyPr wrap="square" lIns="0" tIns="0" rIns="0" bIns="0" rtlCol="0" anchor="t">
            <a:normAutofit/>
          </a:bodyPr>
          <a:lstStyle/>
          <a:p>
            <a:pPr marL="0" indent="0" algn="l">
              <a:lnSpc>
                <a:spcPct val="104000"/>
              </a:lnSpc>
              <a:buNone/>
            </a:pPr>
            <a:r>
              <a:rPr lang="en-US" sz="3500" dirty="0">
                <a:solidFill>
                  <a:srgbClr val="403011"/>
                </a:solidFill>
                <a:latin typeface="Brygada 1918 SemiBold" pitchFamily="34" charset="0"/>
                <a:ea typeface="Brygada 1918 SemiBold" pitchFamily="34" charset="-122"/>
                <a:cs typeface="Brygada 1918 SemiBold" pitchFamily="34" charset="-120"/>
              </a:rPr>
              <a:t>5.4 COMO A FUNÇÃO TRIGONOMÉTRICA DESCREVE O FENÔMENO FÍSICO?</a:t>
            </a:r>
            <a:endParaRPr lang="en-US" sz="3500" dirty="0"/>
          </a:p>
        </p:txBody>
      </p:sp>
      <p:sp>
        <p:nvSpPr>
          <p:cNvPr id="3" name="Text 1"/>
          <p:cNvSpPr/>
          <p:nvPr/>
        </p:nvSpPr>
        <p:spPr>
          <a:xfrm>
            <a:off x="661475" y="1920180"/>
            <a:ext cx="10868745" cy="840284"/>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03011"/>
                </a:solidFill>
                <a:latin typeface="Brygada 1918" pitchFamily="34" charset="0"/>
                <a:ea typeface="Brygada 1918" pitchFamily="34" charset="-122"/>
                <a:cs typeface="Brygada 1918" pitchFamily="34" charset="-120"/>
              </a:rPr>
              <a:t>As ondas sonoras são fenômenos periódicos, o que significa que se repetem em intervalos regulares. Essa característica as torna perfeitamente adequadas para serem descritas por funções trigonométricas, como o seno e o cosseno, que são intrinsecamente periódicas.</a:t>
            </a:r>
            <a:endParaRPr lang="en-US" sz="1400" dirty="0"/>
          </a:p>
        </p:txBody>
      </p:sp>
      <p:sp>
        <p:nvSpPr>
          <p:cNvPr id="4" name="Text 2"/>
          <p:cNvSpPr/>
          <p:nvPr/>
        </p:nvSpPr>
        <p:spPr>
          <a:xfrm>
            <a:off x="661475" y="2952353"/>
            <a:ext cx="11478330" cy="280095"/>
          </a:xfrm>
          <a:prstGeom prst="rect">
            <a:avLst/>
          </a:prstGeom>
          <a:noFill/>
          <a:ln/>
        </p:spPr>
        <p:txBody>
          <a:bodyPr wrap="none" lIns="0" tIns="0" rIns="0" bIns="0" rtlCol="0" anchor="t"/>
          <a:lstStyle/>
          <a:p>
            <a:pPr marL="0" indent="0" algn="l">
              <a:lnSpc>
                <a:spcPct val="130000"/>
              </a:lnSpc>
              <a:buNone/>
            </a:pPr>
            <a:r>
              <a:rPr lang="en-US" sz="1400" dirty="0">
                <a:solidFill>
                  <a:srgbClr val="403011"/>
                </a:solidFill>
                <a:latin typeface="Brygada 1918" pitchFamily="34" charset="0"/>
                <a:ea typeface="Brygada 1918" pitchFamily="34" charset="-122"/>
                <a:cs typeface="Brygada 1918" pitchFamily="34" charset="-120"/>
              </a:rPr>
              <a:t>Ao modelar uma onda sonora com uma função do tipo </a:t>
            </a:r>
            <a:r>
              <a:rPr lang="en-US" sz="1400" i="1" dirty="0">
                <a:solidFill>
                  <a:srgbClr val="403011"/>
                </a:solidFill>
                <a:latin typeface="Brygada 1918" pitchFamily="34" charset="0"/>
                <a:ea typeface="Brygada 1918" pitchFamily="34" charset="-122"/>
                <a:cs typeface="Brygada 1918" pitchFamily="34" charset="-120"/>
              </a:rPr>
              <a:t>           </a:t>
            </a:r>
            <a:r>
              <a:rPr lang="en-US" sz="1400" dirty="0">
                <a:solidFill>
                  <a:srgbClr val="403011"/>
                </a:solidFill>
                <a:latin typeface="Brygada 1918" pitchFamily="34" charset="0"/>
                <a:ea typeface="Brygada 1918" pitchFamily="34" charset="-122"/>
                <a:cs typeface="Brygada 1918" pitchFamily="34" charset="-120"/>
              </a:rPr>
              <a:t>, cada parâmetro possui um significado físico direto:</a:t>
            </a:r>
            <a:endParaRPr lang="en-US" sz="1400" dirty="0"/>
          </a:p>
        </p:txBody>
      </p:sp>
      <p:pic>
        <p:nvPicPr>
          <p:cNvPr id="5" name="Image 0" descr="preencoded.png"/>
          <p:cNvPicPr>
            <a:picLocks noChangeAspect="1"/>
          </p:cNvPicPr>
          <p:nvPr/>
        </p:nvPicPr>
        <p:blipFill>
          <a:blip r:embed="rId3"/>
          <a:stretch>
            <a:fillRect/>
          </a:stretch>
        </p:blipFill>
        <p:spPr>
          <a:xfrm>
            <a:off x="5203000" y="2984103"/>
            <a:ext cx="1761188" cy="229493"/>
          </a:xfrm>
          <a:prstGeom prst="rect">
            <a:avLst/>
          </a:prstGeom>
        </p:spPr>
      </p:pic>
      <p:sp>
        <p:nvSpPr>
          <p:cNvPr id="6" name="Text 3"/>
          <p:cNvSpPr/>
          <p:nvPr/>
        </p:nvSpPr>
        <p:spPr>
          <a:xfrm>
            <a:off x="661475" y="3424337"/>
            <a:ext cx="11478330" cy="280095"/>
          </a:xfrm>
          <a:prstGeom prst="rect">
            <a:avLst/>
          </a:prstGeom>
          <a:noFill/>
          <a:ln/>
        </p:spPr>
        <p:txBody>
          <a:bodyPr wrap="none" lIns="0" tIns="0" rIns="0" bIns="0" rtlCol="0" anchor="t"/>
          <a:lstStyle/>
          <a:p>
            <a:pPr marL="284480" indent="-284480" algn="l">
              <a:lnSpc>
                <a:spcPct val="130000"/>
              </a:lnSpc>
              <a:buSzPct val="100000"/>
              <a:buChar char="•"/>
            </a:pPr>
            <a:r>
              <a:rPr lang="en-US" sz="1400" b="1" dirty="0">
                <a:solidFill>
                  <a:srgbClr val="403011"/>
                </a:solidFill>
                <a:latin typeface="Brygada 1918 Bold" pitchFamily="34" charset="0"/>
                <a:ea typeface="Brygada 1918 Bold" pitchFamily="34" charset="-122"/>
                <a:cs typeface="Brygada 1918 Bold" pitchFamily="34" charset="-120"/>
              </a:rPr>
              <a:t>A (Amplitude)</a:t>
            </a:r>
            <a:r>
              <a:rPr lang="en-US" sz="1400" dirty="0">
                <a:solidFill>
                  <a:srgbClr val="403011"/>
                </a:solidFill>
                <a:latin typeface="Brygada 1918" pitchFamily="34" charset="0"/>
                <a:ea typeface="Brygada 1918" pitchFamily="34" charset="-122"/>
                <a:cs typeface="Brygada 1918" pitchFamily="34" charset="-120"/>
              </a:rPr>
              <a:t>: Representa a intensidade ou volume do som. Um valor maior de </a:t>
            </a:r>
            <a:r>
              <a:rPr lang="en-US" sz="1400" i="1" dirty="0">
                <a:solidFill>
                  <a:srgbClr val="403011"/>
                </a:solidFill>
                <a:latin typeface="Brygada 1918" pitchFamily="34" charset="0"/>
                <a:ea typeface="Brygada 1918" pitchFamily="34" charset="-122"/>
                <a:cs typeface="Brygada 1918" pitchFamily="34" charset="-120"/>
              </a:rPr>
              <a:t> </a:t>
            </a:r>
            <a:r>
              <a:rPr lang="en-US" sz="1400" dirty="0">
                <a:solidFill>
                  <a:srgbClr val="403011"/>
                </a:solidFill>
                <a:latin typeface="Brygada 1918" pitchFamily="34" charset="0"/>
                <a:ea typeface="Brygada 1918" pitchFamily="34" charset="-122"/>
                <a:cs typeface="Brygada 1918" pitchFamily="34" charset="-120"/>
              </a:rPr>
              <a:t> corresponde a um som mais alto.</a:t>
            </a:r>
            <a:endParaRPr lang="en-US" sz="1400" dirty="0"/>
          </a:p>
        </p:txBody>
      </p:sp>
      <p:pic>
        <p:nvPicPr>
          <p:cNvPr id="7" name="Image 1" descr="preencoded.png"/>
          <p:cNvPicPr>
            <a:picLocks noChangeAspect="1"/>
          </p:cNvPicPr>
          <p:nvPr/>
        </p:nvPicPr>
        <p:blipFill>
          <a:blip r:embed="rId4"/>
          <a:stretch>
            <a:fillRect/>
          </a:stretch>
        </p:blipFill>
        <p:spPr>
          <a:xfrm>
            <a:off x="7550259" y="3456087"/>
            <a:ext cx="131660" cy="229493"/>
          </a:xfrm>
          <a:prstGeom prst="rect">
            <a:avLst/>
          </a:prstGeom>
        </p:spPr>
      </p:pic>
      <p:sp>
        <p:nvSpPr>
          <p:cNvPr id="8" name="Text 4"/>
          <p:cNvSpPr/>
          <p:nvPr/>
        </p:nvSpPr>
        <p:spPr>
          <a:xfrm>
            <a:off x="661475" y="3764062"/>
            <a:ext cx="10868745" cy="560189"/>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b="1" dirty="0">
                <a:solidFill>
                  <a:srgbClr val="403011"/>
                </a:solidFill>
                <a:latin typeface="Brygada 1918 Bold" pitchFamily="34" charset="0"/>
                <a:ea typeface="Brygada 1918 Bold" pitchFamily="34" charset="-122"/>
                <a:cs typeface="Brygada 1918 Bold" pitchFamily="34" charset="-120"/>
              </a:rPr>
              <a:t>B (Frequência Angular)</a:t>
            </a:r>
            <a:r>
              <a:rPr lang="en-US" sz="1400" dirty="0">
                <a:solidFill>
                  <a:srgbClr val="403011"/>
                </a:solidFill>
                <a:latin typeface="Brygada 1918" pitchFamily="34" charset="0"/>
                <a:ea typeface="Brygada 1918" pitchFamily="34" charset="-122"/>
                <a:cs typeface="Brygada 1918" pitchFamily="34" charset="-120"/>
              </a:rPr>
              <a:t>: Está diretamente relacionado à frequência (</a:t>
            </a:r>
            <a:r>
              <a:rPr lang="en-US" sz="1400" i="1" dirty="0">
                <a:solidFill>
                  <a:srgbClr val="403011"/>
                </a:solidFill>
                <a:latin typeface="Brygada 1918" pitchFamily="34" charset="0"/>
                <a:ea typeface="Brygada 1918" pitchFamily="34" charset="-122"/>
                <a:cs typeface="Brygada 1918" pitchFamily="34" charset="-120"/>
              </a:rPr>
              <a:t> </a:t>
            </a:r>
            <a:r>
              <a:rPr lang="en-US" sz="1400" dirty="0">
                <a:solidFill>
                  <a:srgbClr val="403011"/>
                </a:solidFill>
                <a:latin typeface="Brygada 1918" pitchFamily="34" charset="0"/>
                <a:ea typeface="Brygada 1918" pitchFamily="34" charset="-122"/>
                <a:cs typeface="Brygada 1918" pitchFamily="34" charset="-120"/>
              </a:rPr>
              <a:t>) do som (</a:t>
            </a:r>
            <a:r>
              <a:rPr lang="en-US" sz="1400" i="1" dirty="0">
                <a:solidFill>
                  <a:srgbClr val="403011"/>
                </a:solidFill>
                <a:latin typeface="Brygada 1918" pitchFamily="34" charset="0"/>
                <a:ea typeface="Brygada 1918" pitchFamily="34" charset="-122"/>
                <a:cs typeface="Brygada 1918" pitchFamily="34" charset="-120"/>
              </a:rPr>
              <a:t>    </a:t>
            </a:r>
            <a:r>
              <a:rPr lang="en-US" sz="1400" dirty="0">
                <a:solidFill>
                  <a:srgbClr val="403011"/>
                </a:solidFill>
                <a:latin typeface="Brygada 1918" pitchFamily="34" charset="0"/>
                <a:ea typeface="Brygada 1918" pitchFamily="34" charset="-122"/>
                <a:cs typeface="Brygada 1918" pitchFamily="34" charset="-120"/>
              </a:rPr>
              <a:t>), que determina a sua altura tonal (agudo ou grave). Uma frequência mais alta significa um som mais agudo.</a:t>
            </a:r>
            <a:endParaRPr lang="en-US" sz="1400" dirty="0"/>
          </a:p>
        </p:txBody>
      </p:sp>
      <p:pic>
        <p:nvPicPr>
          <p:cNvPr id="9" name="Image 2" descr="preencoded.png"/>
          <p:cNvPicPr>
            <a:picLocks noChangeAspect="1"/>
          </p:cNvPicPr>
          <p:nvPr/>
        </p:nvPicPr>
        <p:blipFill>
          <a:blip r:embed="rId5"/>
          <a:stretch>
            <a:fillRect/>
          </a:stretch>
        </p:blipFill>
        <p:spPr>
          <a:xfrm>
            <a:off x="6630425" y="3795812"/>
            <a:ext cx="104872" cy="229493"/>
          </a:xfrm>
          <a:prstGeom prst="rect">
            <a:avLst/>
          </a:prstGeom>
        </p:spPr>
      </p:pic>
      <p:pic>
        <p:nvPicPr>
          <p:cNvPr id="10" name="Image 3" descr="preencoded.png"/>
          <p:cNvPicPr>
            <a:picLocks noChangeAspect="1"/>
          </p:cNvPicPr>
          <p:nvPr/>
        </p:nvPicPr>
        <p:blipFill>
          <a:blip r:embed="rId6"/>
          <a:stretch>
            <a:fillRect/>
          </a:stretch>
        </p:blipFill>
        <p:spPr>
          <a:xfrm>
            <a:off x="7533888" y="3795812"/>
            <a:ext cx="674770" cy="229493"/>
          </a:xfrm>
          <a:prstGeom prst="rect">
            <a:avLst/>
          </a:prstGeom>
        </p:spPr>
      </p:pic>
      <p:sp>
        <p:nvSpPr>
          <p:cNvPr id="11" name="Text 5"/>
          <p:cNvSpPr/>
          <p:nvPr/>
        </p:nvSpPr>
        <p:spPr>
          <a:xfrm>
            <a:off x="661475" y="4383881"/>
            <a:ext cx="10868745" cy="560189"/>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b="1" dirty="0">
                <a:solidFill>
                  <a:srgbClr val="403011"/>
                </a:solidFill>
                <a:latin typeface="Brygada 1918 Bold" pitchFamily="34" charset="0"/>
                <a:ea typeface="Brygada 1918 Bold" pitchFamily="34" charset="-122"/>
                <a:cs typeface="Brygada 1918 Bold" pitchFamily="34" charset="-120"/>
              </a:rPr>
              <a:t>C (Fase)</a:t>
            </a:r>
            <a:r>
              <a:rPr lang="en-US" sz="1400" dirty="0">
                <a:solidFill>
                  <a:srgbClr val="403011"/>
                </a:solidFill>
                <a:latin typeface="Brygada 1918" pitchFamily="34" charset="0"/>
                <a:ea typeface="Brygada 1918" pitchFamily="34" charset="-122"/>
                <a:cs typeface="Brygada 1918" pitchFamily="34" charset="-120"/>
              </a:rPr>
              <a:t>: Indica o deslocamento horizontal da onda, ou seja, o seu ponto de início no tempo. Embora menos perceptível no som puro, é crucial para a superposição de ondas.</a:t>
            </a:r>
            <a:endParaRPr lang="en-US" sz="1400" dirty="0"/>
          </a:p>
        </p:txBody>
      </p:sp>
      <p:sp>
        <p:nvSpPr>
          <p:cNvPr id="12" name="Text 6"/>
          <p:cNvSpPr/>
          <p:nvPr/>
        </p:nvSpPr>
        <p:spPr>
          <a:xfrm>
            <a:off x="661475" y="5003701"/>
            <a:ext cx="10868745" cy="560189"/>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b="1" dirty="0">
                <a:solidFill>
                  <a:srgbClr val="403011"/>
                </a:solidFill>
                <a:latin typeface="Brygada 1918 Bold" pitchFamily="34" charset="0"/>
                <a:ea typeface="Brygada 1918 Bold" pitchFamily="34" charset="-122"/>
                <a:cs typeface="Brygada 1918 Bold" pitchFamily="34" charset="-120"/>
              </a:rPr>
              <a:t>D (Deslocamento Vertical)</a:t>
            </a:r>
            <a:r>
              <a:rPr lang="en-US" sz="1400" dirty="0">
                <a:solidFill>
                  <a:srgbClr val="403011"/>
                </a:solidFill>
                <a:latin typeface="Brygada 1918" pitchFamily="34" charset="0"/>
                <a:ea typeface="Brygada 1918" pitchFamily="34" charset="-122"/>
                <a:cs typeface="Brygada 1918" pitchFamily="34" charset="-120"/>
              </a:rPr>
              <a:t>: Representa a linha média da oscilação. Para as ondas sonoras normalizadas que estamos estudando, o valor de </a:t>
            </a:r>
            <a:r>
              <a:rPr lang="en-US" sz="1400" i="1" dirty="0">
                <a:solidFill>
                  <a:srgbClr val="403011"/>
                </a:solidFill>
                <a:latin typeface="Brygada 1918" pitchFamily="34" charset="0"/>
                <a:ea typeface="Brygada 1918" pitchFamily="34" charset="-122"/>
                <a:cs typeface="Brygada 1918" pitchFamily="34" charset="-120"/>
              </a:rPr>
              <a:t> </a:t>
            </a:r>
            <a:r>
              <a:rPr lang="en-US" sz="1400" dirty="0">
                <a:solidFill>
                  <a:srgbClr val="403011"/>
                </a:solidFill>
                <a:latin typeface="Brygada 1918" pitchFamily="34" charset="0"/>
                <a:ea typeface="Brygada 1918" pitchFamily="34" charset="-122"/>
                <a:cs typeface="Brygada 1918" pitchFamily="34" charset="-120"/>
              </a:rPr>
              <a:t> é geralmente zero, indicando que a variação de pressão ocorre em torno do equilíbrio.</a:t>
            </a:r>
            <a:endParaRPr lang="en-US" sz="1400" dirty="0"/>
          </a:p>
        </p:txBody>
      </p:sp>
      <p:pic>
        <p:nvPicPr>
          <p:cNvPr id="13" name="Image 4" descr="preencoded.png"/>
          <p:cNvPicPr>
            <a:picLocks noChangeAspect="1"/>
          </p:cNvPicPr>
          <p:nvPr/>
        </p:nvPicPr>
        <p:blipFill>
          <a:blip r:embed="rId7"/>
          <a:stretch>
            <a:fillRect/>
          </a:stretch>
        </p:blipFill>
        <p:spPr>
          <a:xfrm>
            <a:off x="2750275" y="5315545"/>
            <a:ext cx="150114" cy="229493"/>
          </a:xfrm>
          <a:prstGeom prst="rect">
            <a:avLst/>
          </a:prstGeom>
        </p:spPr>
      </p:pic>
      <p:sp>
        <p:nvSpPr>
          <p:cNvPr id="14" name="Text 7"/>
          <p:cNvSpPr/>
          <p:nvPr/>
        </p:nvSpPr>
        <p:spPr>
          <a:xfrm>
            <a:off x="661475" y="5755779"/>
            <a:ext cx="10868745"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03011"/>
                </a:solidFill>
                <a:latin typeface="Brygada 1918" pitchFamily="34" charset="0"/>
                <a:ea typeface="Brygada 1918" pitchFamily="34" charset="-122"/>
                <a:cs typeface="Brygada 1918" pitchFamily="34" charset="-120"/>
              </a:rPr>
              <a:t>Assim, as funções trigonométricas fornecem uma linguagem matemática precisa para analisar e sintetizar sons, transformando propriedades físicas em componentes de uma equação.</a:t>
            </a:r>
            <a:endParaRPr lang="en-US" sz="1400" dirty="0"/>
          </a:p>
        </p:txBody>
      </p:sp>
    </p:spTree>
  </p:cSld>
  <p:clrMapOvr>
    <a:masterClrMapping/>
  </p:clrMapOvr>
  <p:transition spd="slow">
    <p:comb/>
  </p:transition>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14375"/>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5.3 O Deslocamento Horizontal (Phase Shift) da Função</a:t>
            </a:r>
            <a:endParaRPr lang="en-US" sz="3700" dirty="0"/>
          </a:p>
        </p:txBody>
      </p:sp>
      <p:sp>
        <p:nvSpPr>
          <p:cNvPr id="3" name="Text 1"/>
          <p:cNvSpPr/>
          <p:nvPr/>
        </p:nvSpPr>
        <p:spPr>
          <a:xfrm>
            <a:off x="661475" y="2179141"/>
            <a:ext cx="10868745" cy="2027138"/>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       O deslocamento horizontal, ou "phase shift", é uma medida de quanto o gráfico de uma função trigonométrica é deslocado para a esquerda ou para a direita em relação à sua posição padrão. Ele indica o ponto de partida do ciclo da onda no eixo horizontal.     </a:t>
            </a:r>
            <a:endParaRPr lang="en-US" sz="1450" dirty="0"/>
          </a:p>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       Conforme a descrição inicial das ondas sonoras em análise — com amplitude máxima de 1, amplitude mínima de -1, linha média igual a zero e, de forma essencial, o </a:t>
            </a:r>
            <a:r>
              <a:rPr lang="en-US" sz="1450" b="1" dirty="0">
                <a:solidFill>
                  <a:srgbClr val="403011"/>
                </a:solidFill>
                <a:latin typeface="Brygada 1918 Bold" pitchFamily="34" charset="0"/>
                <a:ea typeface="Brygada 1918 Bold" pitchFamily="34" charset="-122"/>
                <a:cs typeface="Brygada 1918 Bold" pitchFamily="34" charset="-120"/>
              </a:rPr>
              <a:t>início da onda no instante t=0, cruzando a linha média no sentido crescente</a:t>
            </a:r>
            <a:r>
              <a:rPr lang="en-US" sz="1450" dirty="0">
                <a:solidFill>
                  <a:srgbClr val="403011"/>
                </a:solidFill>
                <a:latin typeface="Brygada 1918" pitchFamily="34" charset="0"/>
                <a:ea typeface="Brygada 1918" pitchFamily="34" charset="-122"/>
                <a:cs typeface="Brygada 1918" pitchFamily="34" charset="-120"/>
              </a:rPr>
              <a:t> — a função que representa este fenômeno é uma função seno padrão.     </a:t>
            </a:r>
            <a:endParaRPr lang="en-US" sz="1450" dirty="0"/>
          </a:p>
        </p:txBody>
      </p:sp>
      <p:sp>
        <p:nvSpPr>
          <p:cNvPr id="4" name="Text 2"/>
          <p:cNvSpPr/>
          <p:nvPr/>
        </p:nvSpPr>
        <p:spPr>
          <a:xfrm>
            <a:off x="661475" y="4418905"/>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       Em uma função seno genérica da forma </a:t>
            </a:r>
            <a:r>
              <a:rPr lang="en-US" sz="1450" i="1" dirty="0">
                <a:solidFill>
                  <a:srgbClr val="403011"/>
                </a:solidFill>
                <a:latin typeface="Brygada 1918" pitchFamily="34" charset="0"/>
                <a:ea typeface="Brygada 1918" pitchFamily="34" charset="-122"/>
                <a:cs typeface="Brygada 1918" pitchFamily="34" charset="-120"/>
              </a:rPr>
              <a:t>            </a:t>
            </a:r>
            <a:r>
              <a:rPr lang="en-US" sz="1450" dirty="0">
                <a:solidFill>
                  <a:srgbClr val="403011"/>
                </a:solidFill>
                <a:latin typeface="Brygada 1918" pitchFamily="34" charset="0"/>
                <a:ea typeface="Brygada 1918" pitchFamily="34" charset="-122"/>
                <a:cs typeface="Brygada 1918" pitchFamily="34" charset="-120"/>
              </a:rPr>
              <a:t>, o deslocamento horizontal é dado por </a:t>
            </a:r>
            <a:r>
              <a:rPr lang="en-US" sz="1450" i="1" dirty="0">
                <a:solidFill>
                  <a:srgbClr val="403011"/>
                </a:solidFill>
                <a:latin typeface="Brygada 1918" pitchFamily="34" charset="0"/>
                <a:ea typeface="Brygada 1918" pitchFamily="34" charset="-122"/>
                <a:cs typeface="Brygada 1918" pitchFamily="34" charset="-120"/>
              </a:rPr>
              <a:t>   </a:t>
            </a:r>
            <a:r>
              <a:rPr lang="en-US" sz="1450" dirty="0">
                <a:solidFill>
                  <a:srgbClr val="403011"/>
                </a:solidFill>
                <a:latin typeface="Brygada 1918" pitchFamily="34" charset="0"/>
                <a:ea typeface="Brygada 1918" pitchFamily="34" charset="-122"/>
                <a:cs typeface="Brygada 1918" pitchFamily="34" charset="-120"/>
              </a:rPr>
              <a:t>. Quando uma onda seno começa no ponto de equilíbrio e se move para cima, como é o caso aqui, ela já está alinhada com a forma básica </a:t>
            </a:r>
            <a:r>
              <a:rPr lang="en-US" sz="1450" i="1" dirty="0">
                <a:solidFill>
                  <a:srgbClr val="403011"/>
                </a:solidFill>
                <a:latin typeface="Brygada 1918" pitchFamily="34" charset="0"/>
                <a:ea typeface="Brygada 1918" pitchFamily="34" charset="-122"/>
                <a:cs typeface="Brygada 1918" pitchFamily="34" charset="-120"/>
              </a:rPr>
              <a:t>    </a:t>
            </a:r>
            <a:r>
              <a:rPr lang="en-US" sz="1450" dirty="0">
                <a:solidFill>
                  <a:srgbClr val="403011"/>
                </a:solidFill>
                <a:latin typeface="Brygada 1918" pitchFamily="34" charset="0"/>
                <a:ea typeface="Brygada 1918" pitchFamily="34" charset="-122"/>
                <a:cs typeface="Brygada 1918" pitchFamily="34" charset="-120"/>
              </a:rPr>
              <a:t> que não possui deslocamento.     </a:t>
            </a:r>
            <a:endParaRPr lang="en-US" sz="1450" dirty="0"/>
          </a:p>
        </p:txBody>
      </p:sp>
      <p:pic>
        <p:nvPicPr>
          <p:cNvPr id="5" name="Image 0" descr="preencoded.png"/>
          <p:cNvPicPr>
            <a:picLocks noChangeAspect="1"/>
          </p:cNvPicPr>
          <p:nvPr/>
        </p:nvPicPr>
        <p:blipFill>
          <a:blip r:embed="rId3"/>
          <a:stretch>
            <a:fillRect/>
          </a:stretch>
        </p:blipFill>
        <p:spPr>
          <a:xfrm>
            <a:off x="4474654" y="4450655"/>
            <a:ext cx="2077291" cy="246955"/>
          </a:xfrm>
          <a:prstGeom prst="rect">
            <a:avLst/>
          </a:prstGeom>
        </p:spPr>
      </p:pic>
      <p:pic>
        <p:nvPicPr>
          <p:cNvPr id="6" name="Image 1" descr="preencoded.png"/>
          <p:cNvPicPr>
            <a:picLocks noChangeAspect="1"/>
          </p:cNvPicPr>
          <p:nvPr/>
        </p:nvPicPr>
        <p:blipFill>
          <a:blip r:embed="rId4"/>
          <a:stretch>
            <a:fillRect/>
          </a:stretch>
        </p:blipFill>
        <p:spPr>
          <a:xfrm>
            <a:off x="9985224" y="4450655"/>
            <a:ext cx="530708" cy="246955"/>
          </a:xfrm>
          <a:prstGeom prst="rect">
            <a:avLst/>
          </a:prstGeom>
        </p:spPr>
      </p:pic>
      <p:pic>
        <p:nvPicPr>
          <p:cNvPr id="7" name="Image 2" descr="preencoded.png"/>
          <p:cNvPicPr>
            <a:picLocks noChangeAspect="1"/>
          </p:cNvPicPr>
          <p:nvPr/>
        </p:nvPicPr>
        <p:blipFill>
          <a:blip r:embed="rId5"/>
          <a:stretch>
            <a:fillRect/>
          </a:stretch>
        </p:blipFill>
        <p:spPr>
          <a:xfrm>
            <a:off x="1258658" y="5055493"/>
            <a:ext cx="586666" cy="246955"/>
          </a:xfrm>
          <a:prstGeom prst="rect">
            <a:avLst/>
          </a:prstGeom>
        </p:spPr>
      </p:pic>
      <p:sp>
        <p:nvSpPr>
          <p:cNvPr id="8" name="Text 3"/>
          <p:cNvSpPr/>
          <p:nvPr/>
        </p:nvSpPr>
        <p:spPr>
          <a:xfrm>
            <a:off x="661475" y="5538788"/>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       Portanto, para esta função específica, o </a:t>
            </a:r>
            <a:r>
              <a:rPr lang="en-US" sz="1450" b="1" dirty="0">
                <a:solidFill>
                  <a:srgbClr val="403011"/>
                </a:solidFill>
                <a:latin typeface="Brygada 1918 Bold" pitchFamily="34" charset="0"/>
                <a:ea typeface="Brygada 1918 Bold" pitchFamily="34" charset="-122"/>
                <a:cs typeface="Brygada 1918 Bold" pitchFamily="34" charset="-120"/>
              </a:rPr>
              <a:t>deslocamento horizontal (phase shift) é igual a zero</a:t>
            </a:r>
            <a:r>
              <a:rPr lang="en-US" sz="1450" dirty="0">
                <a:solidFill>
                  <a:srgbClr val="403011"/>
                </a:solidFill>
                <a:latin typeface="Brygada 1918" pitchFamily="34" charset="0"/>
                <a:ea typeface="Brygada 1918" pitchFamily="34" charset="-122"/>
                <a:cs typeface="Brygada 1918" pitchFamily="34" charset="-120"/>
              </a:rPr>
              <a:t>. A onda inicia sua oscilação exatamente na origem do gráfico, sem qualquer adiantamento ou atraso.     </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26722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6. CONCLUSÃO</a:t>
            </a:r>
            <a:endParaRPr lang="en-US" sz="3700" dirty="0"/>
          </a:p>
        </p:txBody>
      </p:sp>
      <p:sp>
        <p:nvSpPr>
          <p:cNvPr id="3" name="Text 1"/>
          <p:cNvSpPr/>
          <p:nvPr/>
        </p:nvSpPr>
        <p:spPr>
          <a:xfrm>
            <a:off x="661475" y="2141339"/>
            <a:ext cx="10868745" cy="3449439"/>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Este trabalho explorou a profunda relação entre as funções trigonométricas e a representação de ondas sonoras. Demonstramos como a natureza periódica do som, caracterizada por sua frequência e período, pode ser elegantemente modelada por funções seno e cosseno, que refletem as vibrações do ar que percebemos como som.</a:t>
            </a:r>
            <a:endParaRPr lang="en-US" sz="1450" dirty="0"/>
          </a:p>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A análise de notas musicais específicas, como a F# 3, ilustrou a aplicação prática desses conceitos. Revelamos como parâmetros matemáticos cruciais, como a amplitude ('a') e o deslocamento vertical ('b'), são derivados diretamente da amplitude normalizada das ondas sonoras. A normalização entre -1 e +1 simplifica a análise, focando nas variações de pressão em relação a um ponto de equilíbrio.</a:t>
            </a:r>
            <a:endParaRPr lang="en-US" sz="1450" dirty="0"/>
          </a:p>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Em última análise, concluímos que a trigonometria oferece uma ferramenta indispensável e poderosa para a compreensão, visualização e análise detalhada de fenômenos ondulatórios complexos presentes no mundo físico, especialmente no vasto campo da acústica e da música.</a:t>
            </a:r>
            <a:endParaRPr lang="en-US" sz="145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14573"/>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403011"/>
                </a:solidFill>
                <a:latin typeface="Brygada 1918 SemiBold" pitchFamily="34" charset="0"/>
                <a:ea typeface="Brygada 1918 SemiBold" pitchFamily="34" charset="-122"/>
                <a:cs typeface="Brygada 1918 SemiBold" pitchFamily="34" charset="-120"/>
              </a:rPr>
              <a:t>4.1.2 COMPRIMENTO DE ONDA NA FÍSICA</a:t>
            </a:r>
            <a:endParaRPr lang="en-US" sz="2600" dirty="0"/>
          </a:p>
        </p:txBody>
      </p:sp>
      <p:sp>
        <p:nvSpPr>
          <p:cNvPr id="3" name="Text 1"/>
          <p:cNvSpPr/>
          <p:nvPr/>
        </p:nvSpPr>
        <p:spPr>
          <a:xfrm>
            <a:off x="661475" y="1350268"/>
            <a:ext cx="3594308" cy="4709716"/>
          </a:xfrm>
          <a:prstGeom prst="rect">
            <a:avLst/>
          </a:prstGeom>
          <a:noFill/>
          <a:ln/>
        </p:spPr>
        <p:txBody>
          <a:bodyPr wrap="square" lIns="0" tIns="0" rIns="0" bIns="0" rtlCol="0" anchor="t">
            <a:normAutofit/>
          </a:bodyPr>
          <a:lstStyle/>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Além da forma matemática da onda em relação ao tempo, podemos analisar como essa mesma nota musical se comporta fisicamente no espaço. Considerando que a velocidade de propagação do som no ar, em temperatura ambiente, é de aproximadamente 344 m/s (de acordo com a </a:t>
            </a:r>
            <a:r>
              <a:rPr lang="en-US" sz="1000" b="1" u="sng" dirty="0">
                <a:solidFill>
                  <a:srgbClr val="626C3B"/>
                </a:solidFill>
                <a:latin typeface="Brygada 1918 Bold" pitchFamily="34" charset="0"/>
                <a:ea typeface="Brygada 1918 Bold" pitchFamily="34" charset="-122"/>
                <a:cs typeface="Brygada 1918 Bold" pitchFamily="34" charset="-120"/>
                <a:hlinkClick r:id="rId3">
                  <a:extLst>
                    <a:ext uri="{A12FA001-AC4F-418D-AE19-62706E023703}">
                      <ahyp:hlinkClr xmlns:ahyp="http://schemas.microsoft.com/office/drawing/2018/hyperlinkcolor" val="tx"/>
                    </a:ext>
                  </a:extLst>
                </a:hlinkClick>
              </a:rPr>
              <a:t>fonte</a:t>
            </a:r>
            <a:r>
              <a:rPr lang="en-US" sz="1000" dirty="0">
                <a:solidFill>
                  <a:srgbClr val="403011"/>
                </a:solidFill>
                <a:latin typeface="Brygada 1918" pitchFamily="34" charset="0"/>
                <a:ea typeface="Brygada 1918" pitchFamily="34" charset="-122"/>
                <a:cs typeface="Brygada 1918" pitchFamily="34" charset="-120"/>
              </a:rPr>
              <a:t>), podemos calcular o comprimento de onda dessa nota no mundo real.</a:t>
            </a:r>
            <a:endParaRPr lang="en-US" sz="1000" dirty="0"/>
          </a:p>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Utilizando a equação fundamental da ondulatória:</a:t>
            </a:r>
            <a:endParaRPr lang="en-US" sz="1000" dirty="0"/>
          </a:p>
          <a:p>
            <a:pPr marL="0" indent="0" algn="l">
              <a:lnSpc>
                <a:spcPct val="113000"/>
              </a:lnSpc>
              <a:spcAft>
                <a:spcPts val="650"/>
              </a:spcAft>
              <a:buNone/>
            </a:pPr>
            <a:r>
              <a:rPr lang="en-US" sz="1000" b="1" dirty="0">
                <a:solidFill>
                  <a:srgbClr val="403011"/>
                </a:solidFill>
                <a:latin typeface="Brygada 1918 Bold" pitchFamily="34" charset="0"/>
                <a:ea typeface="Brygada 1918 Bold" pitchFamily="34" charset="-122"/>
                <a:cs typeface="Brygada 1918 Bold" pitchFamily="34" charset="-120"/>
              </a:rPr>
              <a:t>v = λ ∗ f</a:t>
            </a:r>
            <a:endParaRPr lang="en-US" sz="1000" dirty="0"/>
          </a:p>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v é a velocidade do ar 344 m / s em temperatura ambiente (</a:t>
            </a:r>
            <a:r>
              <a:rPr lang="en-US" sz="1000" b="1" u="sng" dirty="0">
                <a:solidFill>
                  <a:srgbClr val="626C3B"/>
                </a:solidFill>
                <a:latin typeface="Brygada 1918 Bold" pitchFamily="34" charset="0"/>
                <a:ea typeface="Brygada 1918 Bold" pitchFamily="34" charset="-122"/>
                <a:cs typeface="Brygada 1918 Bold" pitchFamily="34" charset="-120"/>
                <a:hlinkClick r:id="rId3">
                  <a:extLst>
                    <a:ext uri="{A12FA001-AC4F-418D-AE19-62706E023703}">
                      <ahyp:hlinkClr xmlns:ahyp="http://schemas.microsoft.com/office/drawing/2018/hyperlinkcolor" val="tx"/>
                    </a:ext>
                  </a:extLst>
                </a:hlinkClick>
              </a:rPr>
              <a:t>fonte</a:t>
            </a:r>
            <a:r>
              <a:rPr lang="en-US" sz="1000" dirty="0">
                <a:solidFill>
                  <a:srgbClr val="403011"/>
                </a:solidFill>
                <a:latin typeface="Brygada 1918" pitchFamily="34" charset="0"/>
                <a:ea typeface="Brygada 1918" pitchFamily="34" charset="-122"/>
                <a:cs typeface="Brygada 1918" pitchFamily="34" charset="-120"/>
              </a:rPr>
              <a:t> e </a:t>
            </a:r>
            <a:r>
              <a:rPr lang="en-US" sz="1000" b="1" u="sng" dirty="0">
                <a:solidFill>
                  <a:srgbClr val="626C3B"/>
                </a:solidFill>
                <a:latin typeface="Brygada 1918 Bold" pitchFamily="34" charset="0"/>
                <a:ea typeface="Brygada 1918 Bold" pitchFamily="34" charset="-122"/>
                <a:cs typeface="Brygada 1918 Bold" pitchFamily="34" charset="-120"/>
                <a:hlinkClick r:id="rId4">
                  <a:extLst>
                    <a:ext uri="{A12FA001-AC4F-418D-AE19-62706E023703}">
                      <ahyp:hlinkClr xmlns:ahyp="http://schemas.microsoft.com/office/drawing/2018/hyperlinkcolor" val="tx"/>
                    </a:ext>
                  </a:extLst>
                </a:hlinkClick>
              </a:rPr>
              <a:t>fonte</a:t>
            </a:r>
            <a:r>
              <a:rPr lang="en-US" sz="1000" dirty="0">
                <a:solidFill>
                  <a:srgbClr val="403011"/>
                </a:solidFill>
                <a:latin typeface="Brygada 1918" pitchFamily="34" charset="0"/>
                <a:ea typeface="Brygada 1918" pitchFamily="34" charset="-122"/>
                <a:cs typeface="Brygada 1918" pitchFamily="34" charset="-120"/>
              </a:rPr>
              <a:t>)</a:t>
            </a:r>
            <a:endParaRPr lang="en-US" sz="1000" dirty="0"/>
          </a:p>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λ é o comprimento de onda em metros</a:t>
            </a:r>
            <a:endParaRPr lang="en-US" sz="1000" dirty="0"/>
          </a:p>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f é a frequência</a:t>
            </a:r>
            <a:endParaRPr lang="en-US" sz="1000" dirty="0"/>
          </a:p>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Substituindo pelo os dados de velocidade do ar e a frequência de F# 3</a:t>
            </a:r>
            <a:endParaRPr lang="en-US" sz="1000" dirty="0"/>
          </a:p>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344 = λ ∗ 369</a:t>
            </a:r>
            <a:endParaRPr lang="en-US" sz="1000" dirty="0"/>
          </a:p>
          <a:p>
            <a:pPr marL="0" indent="0" algn="l">
              <a:lnSpc>
                <a:spcPct val="113000"/>
              </a:lnSpc>
              <a:spcAft>
                <a:spcPts val="650"/>
              </a:spcAft>
              <a:buNone/>
            </a:pPr>
            <a:r>
              <a:rPr lang="en-US" sz="1000" dirty="0">
                <a:solidFill>
                  <a:srgbClr val="403011"/>
                </a:solidFill>
                <a:latin typeface="Brygada 1918" pitchFamily="34" charset="0"/>
                <a:ea typeface="Brygada 1918" pitchFamily="34" charset="-122"/>
                <a:cs typeface="Brygada 1918" pitchFamily="34" charset="-120"/>
              </a:rPr>
              <a:t>344 369 = λ = 0,9322493224932249 metros</a:t>
            </a:r>
            <a:endParaRPr lang="en-US" sz="1000" dirty="0"/>
          </a:p>
          <a:p>
            <a:pPr marL="0" indent="0" algn="l">
              <a:lnSpc>
                <a:spcPct val="113000"/>
              </a:lnSpc>
              <a:buNone/>
            </a:pPr>
            <a:r>
              <a:rPr lang="en-US" sz="1000" dirty="0">
                <a:solidFill>
                  <a:srgbClr val="403011"/>
                </a:solidFill>
                <a:latin typeface="Brygada 1918" pitchFamily="34" charset="0"/>
                <a:ea typeface="Brygada 1918" pitchFamily="34" charset="-122"/>
                <a:cs typeface="Brygada 1918" pitchFamily="34" charset="-120"/>
              </a:rPr>
              <a:t>Isso significa que, na vida real, o comprimento de onda dessa nota é de aproximadamente 0,93 metros ou 93 centímetros, em uma onda sonora senoidal, esse valor representa a distância necessária para que a onda complete um ciclo e volte a se repetir.</a:t>
            </a:r>
            <a:endParaRPr lang="en-US" sz="1000" dirty="0"/>
          </a:p>
        </p:txBody>
      </p:sp>
      <p:pic>
        <p:nvPicPr>
          <p:cNvPr id="4" name="Image 0" descr="preencoded.png"/>
          <p:cNvPicPr>
            <a:picLocks noChangeAspect="1"/>
          </p:cNvPicPr>
          <p:nvPr/>
        </p:nvPicPr>
        <p:blipFill>
          <a:blip r:embed="rId5"/>
          <a:stretch>
            <a:fillRect/>
          </a:stretch>
        </p:blipFill>
        <p:spPr>
          <a:xfrm>
            <a:off x="5627547" y="2008188"/>
            <a:ext cx="4866161" cy="3393777"/>
          </a:xfrm>
          <a:prstGeom prst="rect">
            <a:avLst/>
          </a:prstGeom>
        </p:spPr>
      </p:pic>
    </p:spTree>
  </p:cSld>
  <p:clrMapOvr>
    <a:masterClrMapping/>
  </p:clrMapOvr>
  <p:transition spd="slow">
    <p:wheel spokes="1"/>
  </p:transition>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25323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4.2 CALCULANDO O PERÍODO</a:t>
            </a:r>
            <a:endParaRPr lang="en-US" sz="3700" dirty="0"/>
          </a:p>
        </p:txBody>
      </p:sp>
      <p:sp>
        <p:nvSpPr>
          <p:cNvPr id="3" name="Shape 1"/>
          <p:cNvSpPr/>
          <p:nvPr/>
        </p:nvSpPr>
        <p:spPr>
          <a:xfrm>
            <a:off x="525350" y="2127349"/>
            <a:ext cx="9441420" cy="3477419"/>
          </a:xfrm>
          <a:prstGeom prst="roundRect">
            <a:avLst>
              <a:gd name="adj" fmla="val 13045"/>
            </a:avLst>
          </a:prstGeom>
          <a:solidFill>
            <a:srgbClr val="AEE4BD"/>
          </a:solidFill>
          <a:ln/>
        </p:spPr>
      </p:sp>
      <p:sp>
        <p:nvSpPr>
          <p:cNvPr id="4" name="Text 2"/>
          <p:cNvSpPr/>
          <p:nvPr/>
        </p:nvSpPr>
        <p:spPr>
          <a:xfrm>
            <a:off x="714357" y="2297410"/>
            <a:ext cx="9063406" cy="3137297"/>
          </a:xfrm>
          <a:prstGeom prst="rect">
            <a:avLst/>
          </a:prstGeom>
          <a:noFill/>
          <a:ln/>
        </p:spPr>
        <p:txBody>
          <a:bodyPr wrap="square" lIns="0" tIns="0" rIns="0" bIns="0" rtlCol="0" anchor="t"/>
          <a:lstStyle/>
          <a:p>
            <a:pPr marL="0" indent="0" algn="l">
              <a:lnSpc>
                <a:spcPct val="133000"/>
              </a:lnSpc>
              <a:spcAft>
                <a:spcPts val="1300"/>
              </a:spcAft>
              <a:buNone/>
            </a:pPr>
            <a:r>
              <a:rPr lang="en-US" sz="1450" dirty="0">
                <a:solidFill>
                  <a:srgbClr val="403011"/>
                </a:solidFill>
                <a:latin typeface="Brygada 1918" pitchFamily="34" charset="0"/>
                <a:ea typeface="Brygada 1918" pitchFamily="34" charset="-122"/>
                <a:cs typeface="Brygada 1918" pitchFamily="34" charset="-120"/>
              </a:rPr>
              <a:t>Vamos usar novamente a nota F# 3 como exemplo:</a:t>
            </a:r>
            <a:endParaRPr lang="en-US" sz="1450" dirty="0"/>
          </a:p>
          <a:p>
            <a:pPr marL="0" indent="0" algn="l">
              <a:lnSpc>
                <a:spcPct val="133000"/>
              </a:lnSpc>
              <a:spcAft>
                <a:spcPts val="1300"/>
              </a:spcAft>
              <a:buNone/>
            </a:pPr>
            <a:r>
              <a:rPr lang="en-US" sz="1450" dirty="0">
                <a:solidFill>
                  <a:srgbClr val="403011"/>
                </a:solidFill>
                <a:latin typeface="Brygada 1918" pitchFamily="34" charset="0"/>
                <a:ea typeface="Brygada 1918" pitchFamily="34" charset="-122"/>
                <a:cs typeface="Brygada 1918" pitchFamily="34" charset="-120"/>
              </a:rPr>
              <a:t>P = 1 369 = 0,002710027 segundos</a:t>
            </a:r>
            <a:endParaRPr lang="en-US" sz="1450" dirty="0"/>
          </a:p>
          <a:p>
            <a:pPr marL="0" indent="0" algn="l">
              <a:lnSpc>
                <a:spcPct val="133000"/>
              </a:lnSpc>
              <a:spcAft>
                <a:spcPts val="1300"/>
              </a:spcAft>
              <a:buNone/>
            </a:pPr>
            <a:r>
              <a:rPr lang="en-US" sz="1450" dirty="0">
                <a:solidFill>
                  <a:srgbClr val="403011"/>
                </a:solidFill>
                <a:latin typeface="Brygada 1918" pitchFamily="34" charset="0"/>
                <a:ea typeface="Brygada 1918" pitchFamily="34" charset="-122"/>
                <a:cs typeface="Brygada 1918" pitchFamily="34" charset="-120"/>
              </a:rPr>
              <a:t>Mas queremos os dados em milissegundos:</a:t>
            </a:r>
            <a:endParaRPr lang="en-US" sz="1450" dirty="0"/>
          </a:p>
          <a:p>
            <a:pPr marL="0" indent="0" algn="l">
              <a:lnSpc>
                <a:spcPct val="133000"/>
              </a:lnSpc>
              <a:spcAft>
                <a:spcPts val="1300"/>
              </a:spcAft>
              <a:buNone/>
            </a:pPr>
            <a:r>
              <a:rPr lang="en-US" sz="1450" dirty="0">
                <a:solidFill>
                  <a:srgbClr val="403011"/>
                </a:solidFill>
                <a:latin typeface="Brygada 1918" pitchFamily="34" charset="0"/>
                <a:ea typeface="Brygada 1918" pitchFamily="34" charset="-122"/>
                <a:cs typeface="Brygada 1918" pitchFamily="34" charset="-120"/>
              </a:rPr>
              <a:t>0,002710027 ∗ 1000 = 2,710027 milissegundos</a:t>
            </a:r>
            <a:endParaRPr lang="en-US" sz="1450" dirty="0"/>
          </a:p>
          <a:p>
            <a:pPr marL="0" indent="0" algn="l">
              <a:lnSpc>
                <a:spcPct val="133000"/>
              </a:lnSpc>
              <a:spcAft>
                <a:spcPts val="1300"/>
              </a:spcAft>
              <a:buNone/>
            </a:pPr>
            <a:r>
              <a:rPr lang="en-US" sz="1450" dirty="0">
                <a:solidFill>
                  <a:srgbClr val="403011"/>
                </a:solidFill>
                <a:latin typeface="Brygada 1918" pitchFamily="34" charset="0"/>
                <a:ea typeface="Brygada 1918" pitchFamily="34" charset="-122"/>
                <a:cs typeface="Brygada 1918" pitchFamily="34" charset="-120"/>
              </a:rPr>
              <a:t>Ou podemos fazer direto em milissegundo:</a:t>
            </a:r>
            <a:endParaRPr lang="en-US" sz="1450" dirty="0"/>
          </a:p>
          <a:p>
            <a:pPr marL="0" indent="0" algn="l">
              <a:lnSpc>
                <a:spcPct val="133000"/>
              </a:lnSpc>
              <a:spcAft>
                <a:spcPts val="1300"/>
              </a:spcAft>
              <a:buNone/>
            </a:pPr>
            <a:r>
              <a:rPr lang="en-US" sz="1450" dirty="0">
                <a:solidFill>
                  <a:srgbClr val="403011"/>
                </a:solidFill>
                <a:latin typeface="Brygada 1918" pitchFamily="34" charset="0"/>
                <a:ea typeface="Brygada 1918" pitchFamily="34" charset="-122"/>
                <a:cs typeface="Brygada 1918" pitchFamily="34" charset="-120"/>
              </a:rPr>
              <a:t>P = 1000 f = 1000 369 = 2,710027 milissegundos</a:t>
            </a:r>
            <a:endParaRPr lang="en-US" sz="1450" dirty="0"/>
          </a:p>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Assim, uma onda de 369 Hz completa um ciclo (período) a cada ≈2,710027 milissegundos.</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740470"/>
            <a:ext cx="10868745" cy="944959"/>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403011"/>
                </a:solidFill>
                <a:latin typeface="Brygada 1918 SemiBold" pitchFamily="34" charset="0"/>
                <a:ea typeface="Brygada 1918 SemiBold" pitchFamily="34" charset="-122"/>
                <a:cs typeface="Brygada 1918 SemiBold" pitchFamily="34" charset="-120"/>
              </a:rPr>
              <a:t>4.3 EM QUE PONTO DO TEMPO A FUNÇÃO COMEÇA A SUBIR?</a:t>
            </a:r>
            <a:endParaRPr lang="en-US" sz="2950" dirty="0"/>
          </a:p>
        </p:txBody>
      </p:sp>
      <p:sp>
        <p:nvSpPr>
          <p:cNvPr id="3" name="Text 1"/>
          <p:cNvSpPr/>
          <p:nvPr/>
        </p:nvSpPr>
        <p:spPr>
          <a:xfrm>
            <a:off x="661475" y="1927324"/>
            <a:ext cx="10868745" cy="4190206"/>
          </a:xfrm>
          <a:prstGeom prst="rect">
            <a:avLst/>
          </a:prstGeom>
          <a:noFill/>
          <a:ln/>
        </p:spPr>
        <p:txBody>
          <a:bodyPr wrap="square" lIns="0" tIns="0" rIns="0" bIns="0" rtlCol="0" anchor="t"/>
          <a:lstStyle/>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Nossa função fica oscilando entre -1 e +1. Para descobrimos o D precisamos saber em que momento ela sai do zero e começa a subir para +1.</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Podemos resolver usando a derivada ela nos permite saber a taxa de variação em um ponto de uma função</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Podemos usar a função dada pela professora: f ( t ) = a + b · se n ( c · ( t – d )</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o nosso período (P) também é a frequência por exemplo:</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1hz = 1 "ciclo" por segundo, período = 1segundo.</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Como o som começa sem atraso (no tempo 0) ignoramos o D por enquanto. D = 0</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Substituindo:</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f ( t ) = 0 + 1 ∗ sen ( 2 π ∗ 369 ∗ ( t − 0 ) ) = sen ( 2 π ∗ 369 ∗ t )</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Para provarmos que D = 0 usamos a derivada em um código em python (disponível no </a:t>
            </a:r>
            <a:r>
              <a:rPr lang="en-US" sz="1150" b="1" u="sng" dirty="0">
                <a:solidFill>
                  <a:srgbClr val="626C3B"/>
                </a:solidFill>
                <a:latin typeface="Brygada 1918 Bold" pitchFamily="34" charset="0"/>
                <a:ea typeface="Brygada 1918 Bold" pitchFamily="34" charset="-122"/>
                <a:cs typeface="Brygada 1918 Bold" pitchFamily="34" charset="-120"/>
                <a:hlinkClick r:id="rId3">
                  <a:extLst>
                    <a:ext uri="{A12FA001-AC4F-418D-AE19-62706E023703}">
                      <ahyp:hlinkClr xmlns:ahyp="http://schemas.microsoft.com/office/drawing/2018/hyperlinkcolor" val="tx"/>
                    </a:ext>
                  </a:extLst>
                </a:hlinkClick>
              </a:rPr>
              <a:t>GitHub</a:t>
            </a:r>
            <a:r>
              <a:rPr lang="en-US" sz="1150" dirty="0">
                <a:solidFill>
                  <a:srgbClr val="403011"/>
                </a:solidFill>
                <a:latin typeface="Brygada 1918" pitchFamily="34" charset="0"/>
                <a:ea typeface="Brygada 1918" pitchFamily="34" charset="-122"/>
                <a:cs typeface="Brygada 1918" pitchFamily="34" charset="-120"/>
              </a:rPr>
              <a:t>)</a:t>
            </a:r>
            <a:endParaRPr lang="en-US" sz="1150" dirty="0"/>
          </a:p>
          <a:p>
            <a:pPr marL="0" indent="0" algn="l">
              <a:lnSpc>
                <a:spcPct val="120000"/>
              </a:lnSpc>
              <a:spcAft>
                <a:spcPts val="1050"/>
              </a:spcAft>
              <a:buNone/>
            </a:pPr>
            <a:r>
              <a:rPr lang="en-US" sz="1150" dirty="0">
                <a:solidFill>
                  <a:srgbClr val="403011"/>
                </a:solidFill>
                <a:latin typeface="Brygada 1918" pitchFamily="34" charset="0"/>
                <a:ea typeface="Brygada 1918" pitchFamily="34" charset="-122"/>
                <a:cs typeface="Brygada 1918" pitchFamily="34" charset="-120"/>
              </a:rPr>
              <a:t>O código vai usar essa função e aumentar o t até a derivada ser positiva, quando a derivada for positiva ele vai registrar o t.</a:t>
            </a:r>
            <a:endParaRPr lang="en-US" sz="1150" dirty="0"/>
          </a:p>
          <a:p>
            <a:pPr marL="0" indent="0" algn="l">
              <a:lnSpc>
                <a:spcPct val="120000"/>
              </a:lnSpc>
              <a:buNone/>
            </a:pPr>
            <a:r>
              <a:rPr lang="en-US" sz="1150" dirty="0">
                <a:solidFill>
                  <a:srgbClr val="403011"/>
                </a:solidFill>
                <a:latin typeface="Brygada 1918" pitchFamily="34" charset="0"/>
                <a:ea typeface="Brygada 1918" pitchFamily="34" charset="-122"/>
                <a:cs typeface="Brygada 1918" pitchFamily="34" charset="-120"/>
              </a:rPr>
              <a:t>Ao testar o código, vemos que após 0,000000000000001 milissegundos ou 10 − 18 segundos a derivada deu 2318,495378. Que é ≈ 2 π ∗ 369 . Isso prova que em um tempo absurdamente pequeno (praticamente 0) a taxa de variação já é idêntica à taxa inicial máxima, ou seja, a função já sai do repouso subindo abruptamente no exato instante 0.</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584200"/>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403011"/>
                </a:solidFill>
                <a:latin typeface="Brygada 1918 SemiBold" pitchFamily="34" charset="0"/>
                <a:ea typeface="Brygada 1918 SemiBold" pitchFamily="34" charset="-122"/>
                <a:cs typeface="Brygada 1918 SemiBold" pitchFamily="34" charset="-120"/>
              </a:rPr>
              <a:t>5.1 PERGUNTAS</a:t>
            </a:r>
            <a:endParaRPr lang="en-US" sz="3150" dirty="0"/>
          </a:p>
        </p:txBody>
      </p:sp>
      <p:pic>
        <p:nvPicPr>
          <p:cNvPr id="3" name="Image 0" descr="preencoded.png"/>
          <p:cNvPicPr>
            <a:picLocks noChangeAspect="1"/>
          </p:cNvPicPr>
          <p:nvPr/>
        </p:nvPicPr>
        <p:blipFill>
          <a:blip r:embed="rId3"/>
          <a:stretch>
            <a:fillRect/>
          </a:stretch>
        </p:blipFill>
        <p:spPr>
          <a:xfrm>
            <a:off x="661475" y="1359297"/>
            <a:ext cx="9238424" cy="4523085"/>
          </a:xfrm>
          <a:prstGeom prst="rect">
            <a:avLst/>
          </a:prstGeom>
        </p:spPr>
      </p:pic>
      <p:sp>
        <p:nvSpPr>
          <p:cNvPr id="4" name="Text 1"/>
          <p:cNvSpPr/>
          <p:nvPr/>
        </p:nvSpPr>
        <p:spPr>
          <a:xfrm>
            <a:off x="661475" y="6035973"/>
            <a:ext cx="11478330" cy="237728"/>
          </a:xfrm>
          <a:prstGeom prst="rect">
            <a:avLst/>
          </a:prstGeom>
          <a:noFill/>
          <a:ln/>
        </p:spPr>
        <p:txBody>
          <a:bodyPr wrap="none" lIns="0" tIns="0" rIns="0" bIns="0" rtlCol="0" anchor="t"/>
          <a:lstStyle/>
          <a:p>
            <a:pPr marL="0" indent="0" algn="l">
              <a:lnSpc>
                <a:spcPct val="123000"/>
              </a:lnSpc>
              <a:buNone/>
            </a:pPr>
            <a:r>
              <a:rPr lang="en-US" sz="1250" dirty="0">
                <a:solidFill>
                  <a:srgbClr val="403011"/>
                </a:solidFill>
                <a:latin typeface="Brygada 1918" pitchFamily="34" charset="0"/>
                <a:ea typeface="Brygada 1918" pitchFamily="34" charset="-122"/>
                <a:cs typeface="Brygada 1918" pitchFamily="34" charset="-120"/>
              </a:rPr>
              <a:t>"desenhem a curva de f(t) por cima dos pontos, no mesmo gráfico"</a:t>
            </a:r>
            <a:endParaRPr lang="en-US" sz="1250" dirty="0"/>
          </a:p>
        </p:txBody>
      </p:sp>
      <mc:AlternateContent xmlns:mc="http://schemas.openxmlformats.org/markup-compatibility/2006">
        <mc:Choice xmlns:p14="http://schemas.microsoft.com/office/powerpoint/2010/main" Requires="p14">
          <p:contentPart p14:bwMode="auto" r:id="rId4">
            <p14:nvContentPartPr>
              <p14:cNvPr id="5" name="Tinta 4">
                <a:extLst>
                  <a:ext uri="{FF2B5EF4-FFF2-40B4-BE49-F238E27FC236}">
                    <a16:creationId xmlns:a16="http://schemas.microsoft.com/office/drawing/2014/main" id="{91B4464B-D8B9-44CD-8F04-179D07D85C3C}"/>
                  </a:ext>
                </a:extLst>
              </p14:cNvPr>
              <p14:cNvContentPartPr/>
              <p14:nvPr/>
            </p14:nvContentPartPr>
            <p14:xfrm>
              <a:off x="1444680" y="2724840"/>
              <a:ext cx="360" cy="360"/>
            </p14:xfrm>
          </p:contentPart>
        </mc:Choice>
        <mc:Fallback>
          <p:pic>
            <p:nvPicPr>
              <p:cNvPr id="5" name="Tinta 4">
                <a:extLst>
                  <a:ext uri="{FF2B5EF4-FFF2-40B4-BE49-F238E27FC236}">
                    <a16:creationId xmlns:a16="http://schemas.microsoft.com/office/drawing/2014/main" id="{91B4464B-D8B9-44CD-8F04-179D07D85C3C}"/>
                  </a:ext>
                </a:extLst>
              </p:cNvPr>
              <p:cNvPicPr/>
              <p:nvPr/>
            </p:nvPicPr>
            <p:blipFill>
              <a:blip r:embed="rId5"/>
              <a:stretch>
                <a:fillRect/>
              </a:stretch>
            </p:blipFill>
            <p:spPr>
              <a:xfrm>
                <a:off x="1408680" y="268884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Tinta 5">
                <a:extLst>
                  <a:ext uri="{FF2B5EF4-FFF2-40B4-BE49-F238E27FC236}">
                    <a16:creationId xmlns:a16="http://schemas.microsoft.com/office/drawing/2014/main" id="{9152F7B5-4745-43D7-8120-2E16E2E5EDEA}"/>
                  </a:ext>
                </a:extLst>
              </p14:cNvPr>
              <p14:cNvContentPartPr/>
              <p14:nvPr/>
            </p14:nvContentPartPr>
            <p14:xfrm>
              <a:off x="2121120" y="2748960"/>
              <a:ext cx="360" cy="360"/>
            </p14:xfrm>
          </p:contentPart>
        </mc:Choice>
        <mc:Fallback>
          <p:pic>
            <p:nvPicPr>
              <p:cNvPr id="6" name="Tinta 5">
                <a:extLst>
                  <a:ext uri="{FF2B5EF4-FFF2-40B4-BE49-F238E27FC236}">
                    <a16:creationId xmlns:a16="http://schemas.microsoft.com/office/drawing/2014/main" id="{9152F7B5-4745-43D7-8120-2E16E2E5EDEA}"/>
                  </a:ext>
                </a:extLst>
              </p:cNvPr>
              <p:cNvPicPr/>
              <p:nvPr/>
            </p:nvPicPr>
            <p:blipFill>
              <a:blip r:embed="rId5"/>
              <a:stretch>
                <a:fillRect/>
              </a:stretch>
            </p:blipFill>
            <p:spPr>
              <a:xfrm>
                <a:off x="2085480" y="271332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Tinta 6">
                <a:extLst>
                  <a:ext uri="{FF2B5EF4-FFF2-40B4-BE49-F238E27FC236}">
                    <a16:creationId xmlns:a16="http://schemas.microsoft.com/office/drawing/2014/main" id="{D3FF6C5A-3ECF-415C-9646-000AE0E0F6F5}"/>
                  </a:ext>
                </a:extLst>
              </p14:cNvPr>
              <p14:cNvContentPartPr/>
              <p14:nvPr/>
            </p14:nvContentPartPr>
            <p14:xfrm>
              <a:off x="1938240" y="3882960"/>
              <a:ext cx="360" cy="360"/>
            </p14:xfrm>
          </p:contentPart>
        </mc:Choice>
        <mc:Fallback>
          <p:pic>
            <p:nvPicPr>
              <p:cNvPr id="7" name="Tinta 6">
                <a:extLst>
                  <a:ext uri="{FF2B5EF4-FFF2-40B4-BE49-F238E27FC236}">
                    <a16:creationId xmlns:a16="http://schemas.microsoft.com/office/drawing/2014/main" id="{D3FF6C5A-3ECF-415C-9646-000AE0E0F6F5}"/>
                  </a:ext>
                </a:extLst>
              </p:cNvPr>
              <p:cNvPicPr/>
              <p:nvPr/>
            </p:nvPicPr>
            <p:blipFill>
              <a:blip r:embed="rId5"/>
              <a:stretch>
                <a:fillRect/>
              </a:stretch>
            </p:blipFill>
            <p:spPr>
              <a:xfrm>
                <a:off x="1902600" y="384732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Tinta 7">
                <a:extLst>
                  <a:ext uri="{FF2B5EF4-FFF2-40B4-BE49-F238E27FC236}">
                    <a16:creationId xmlns:a16="http://schemas.microsoft.com/office/drawing/2014/main" id="{9253EA51-3577-4991-BD2F-354E10BD290E}"/>
                  </a:ext>
                </a:extLst>
              </p14:cNvPr>
              <p14:cNvContentPartPr/>
              <p14:nvPr/>
            </p14:nvContentPartPr>
            <p14:xfrm>
              <a:off x="1627560" y="1627560"/>
              <a:ext cx="360" cy="360"/>
            </p14:xfrm>
          </p:contentPart>
        </mc:Choice>
        <mc:Fallback>
          <p:pic>
            <p:nvPicPr>
              <p:cNvPr id="8" name="Tinta 7">
                <a:extLst>
                  <a:ext uri="{FF2B5EF4-FFF2-40B4-BE49-F238E27FC236}">
                    <a16:creationId xmlns:a16="http://schemas.microsoft.com/office/drawing/2014/main" id="{9253EA51-3577-4991-BD2F-354E10BD290E}"/>
                  </a:ext>
                </a:extLst>
              </p:cNvPr>
              <p:cNvPicPr/>
              <p:nvPr/>
            </p:nvPicPr>
            <p:blipFill>
              <a:blip r:embed="rId5"/>
              <a:stretch>
                <a:fillRect/>
              </a:stretch>
            </p:blipFill>
            <p:spPr>
              <a:xfrm>
                <a:off x="1591560" y="159156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Tinta 8">
                <a:extLst>
                  <a:ext uri="{FF2B5EF4-FFF2-40B4-BE49-F238E27FC236}">
                    <a16:creationId xmlns:a16="http://schemas.microsoft.com/office/drawing/2014/main" id="{6E470290-86A9-4A43-A96F-82F16C6951C9}"/>
                  </a:ext>
                </a:extLst>
              </p14:cNvPr>
              <p14:cNvContentPartPr/>
              <p14:nvPr/>
            </p14:nvContentPartPr>
            <p14:xfrm>
              <a:off x="1804320" y="2743200"/>
              <a:ext cx="360" cy="360"/>
            </p14:xfrm>
          </p:contentPart>
        </mc:Choice>
        <mc:Fallback>
          <p:pic>
            <p:nvPicPr>
              <p:cNvPr id="9" name="Tinta 8">
                <a:extLst>
                  <a:ext uri="{FF2B5EF4-FFF2-40B4-BE49-F238E27FC236}">
                    <a16:creationId xmlns:a16="http://schemas.microsoft.com/office/drawing/2014/main" id="{6E470290-86A9-4A43-A96F-82F16C6951C9}"/>
                  </a:ext>
                </a:extLst>
              </p:cNvPr>
              <p:cNvPicPr/>
              <p:nvPr/>
            </p:nvPicPr>
            <p:blipFill>
              <a:blip r:embed="rId5"/>
              <a:stretch>
                <a:fillRect/>
              </a:stretch>
            </p:blipFill>
            <p:spPr>
              <a:xfrm>
                <a:off x="1768320" y="2707200"/>
                <a:ext cx="72000" cy="72000"/>
              </a:xfrm>
              <a:prstGeom prst="rect">
                <a:avLst/>
              </a:prstGeom>
            </p:spPr>
          </p:pic>
        </mc:Fallback>
      </mc:AlternateContent>
      <p:grpSp>
        <p:nvGrpSpPr>
          <p:cNvPr id="16" name="Agrupar 15">
            <a:extLst>
              <a:ext uri="{FF2B5EF4-FFF2-40B4-BE49-F238E27FC236}">
                <a16:creationId xmlns:a16="http://schemas.microsoft.com/office/drawing/2014/main" id="{BAAC1685-E55F-4461-AC64-4B7081B93D32}"/>
              </a:ext>
            </a:extLst>
          </p:cNvPr>
          <p:cNvGrpSpPr/>
          <p:nvPr/>
        </p:nvGrpSpPr>
        <p:grpSpPr>
          <a:xfrm>
            <a:off x="2202120" y="2624250"/>
            <a:ext cx="142200" cy="187560"/>
            <a:chOff x="2202120" y="2624250"/>
            <a:chExt cx="142200" cy="187560"/>
          </a:xfrm>
        </p:grpSpPr>
        <mc:AlternateContent xmlns:mc="http://schemas.openxmlformats.org/markup-compatibility/2006">
          <mc:Choice xmlns:p14="http://schemas.microsoft.com/office/powerpoint/2010/main" Requires="p14">
            <p:contentPart p14:bwMode="auto" r:id="rId10">
              <p14:nvContentPartPr>
                <p14:cNvPr id="14" name="Tinta 13">
                  <a:extLst>
                    <a:ext uri="{FF2B5EF4-FFF2-40B4-BE49-F238E27FC236}">
                      <a16:creationId xmlns:a16="http://schemas.microsoft.com/office/drawing/2014/main" id="{5683739F-7689-4941-A47D-0EA39070CB15}"/>
                    </a:ext>
                  </a:extLst>
                </p14:cNvPr>
                <p14:cNvContentPartPr/>
                <p14:nvPr/>
              </p14:nvContentPartPr>
              <p14:xfrm>
                <a:off x="2202120" y="2632530"/>
                <a:ext cx="20160" cy="179280"/>
              </p14:xfrm>
            </p:contentPart>
          </mc:Choice>
          <mc:Fallback>
            <p:pic>
              <p:nvPicPr>
                <p:cNvPr id="14" name="Tinta 13">
                  <a:extLst>
                    <a:ext uri="{FF2B5EF4-FFF2-40B4-BE49-F238E27FC236}">
                      <a16:creationId xmlns:a16="http://schemas.microsoft.com/office/drawing/2014/main" id="{5683739F-7689-4941-A47D-0EA39070CB15}"/>
                    </a:ext>
                  </a:extLst>
                </p:cNvPr>
                <p:cNvPicPr/>
                <p:nvPr/>
              </p:nvPicPr>
              <p:blipFill>
                <a:blip r:embed="rId11"/>
                <a:stretch>
                  <a:fillRect/>
                </a:stretch>
              </p:blipFill>
              <p:spPr>
                <a:xfrm>
                  <a:off x="2193120" y="2623530"/>
                  <a:ext cx="3780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 name="Tinta 14">
                  <a:extLst>
                    <a:ext uri="{FF2B5EF4-FFF2-40B4-BE49-F238E27FC236}">
                      <a16:creationId xmlns:a16="http://schemas.microsoft.com/office/drawing/2014/main" id="{A4B90E1E-2A86-43DA-B80C-9786FBAB0055}"/>
                    </a:ext>
                  </a:extLst>
                </p14:cNvPr>
                <p14:cNvContentPartPr/>
                <p14:nvPr/>
              </p14:nvContentPartPr>
              <p14:xfrm>
                <a:off x="2221200" y="2624250"/>
                <a:ext cx="123120" cy="82080"/>
              </p14:xfrm>
            </p:contentPart>
          </mc:Choice>
          <mc:Fallback>
            <p:pic>
              <p:nvPicPr>
                <p:cNvPr id="15" name="Tinta 14">
                  <a:extLst>
                    <a:ext uri="{FF2B5EF4-FFF2-40B4-BE49-F238E27FC236}">
                      <a16:creationId xmlns:a16="http://schemas.microsoft.com/office/drawing/2014/main" id="{A4B90E1E-2A86-43DA-B80C-9786FBAB0055}"/>
                    </a:ext>
                  </a:extLst>
                </p:cNvPr>
                <p:cNvPicPr/>
                <p:nvPr/>
              </p:nvPicPr>
              <p:blipFill>
                <a:blip r:embed="rId13"/>
                <a:stretch>
                  <a:fillRect/>
                </a:stretch>
              </p:blipFill>
              <p:spPr>
                <a:xfrm>
                  <a:off x="2212200" y="2615610"/>
                  <a:ext cx="140760" cy="99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8" name="Tinta 17">
                <a:extLst>
                  <a:ext uri="{FF2B5EF4-FFF2-40B4-BE49-F238E27FC236}">
                    <a16:creationId xmlns:a16="http://schemas.microsoft.com/office/drawing/2014/main" id="{E79E9ADE-5A38-43F4-A4D0-65CC14A83BA0}"/>
                  </a:ext>
                </a:extLst>
              </p14:cNvPr>
              <p14:cNvContentPartPr/>
              <p14:nvPr/>
            </p14:nvContentPartPr>
            <p14:xfrm>
              <a:off x="1339920" y="2540010"/>
              <a:ext cx="152280" cy="113040"/>
            </p14:xfrm>
          </p:contentPart>
        </mc:Choice>
        <mc:Fallback>
          <p:pic>
            <p:nvPicPr>
              <p:cNvPr id="18" name="Tinta 17">
                <a:extLst>
                  <a:ext uri="{FF2B5EF4-FFF2-40B4-BE49-F238E27FC236}">
                    <a16:creationId xmlns:a16="http://schemas.microsoft.com/office/drawing/2014/main" id="{E79E9ADE-5A38-43F4-A4D0-65CC14A83BA0}"/>
                  </a:ext>
                </a:extLst>
              </p:cNvPr>
              <p:cNvPicPr/>
              <p:nvPr/>
            </p:nvPicPr>
            <p:blipFill>
              <a:blip r:embed="rId15"/>
              <a:stretch>
                <a:fillRect/>
              </a:stretch>
            </p:blipFill>
            <p:spPr>
              <a:xfrm>
                <a:off x="1331280" y="2531370"/>
                <a:ext cx="169920" cy="130680"/>
              </a:xfrm>
              <a:prstGeom prst="rect">
                <a:avLst/>
              </a:prstGeom>
            </p:spPr>
          </p:pic>
        </mc:Fallback>
      </mc:AlternateContent>
      <p:grpSp>
        <p:nvGrpSpPr>
          <p:cNvPr id="21" name="Agrupar 20">
            <a:extLst>
              <a:ext uri="{FF2B5EF4-FFF2-40B4-BE49-F238E27FC236}">
                <a16:creationId xmlns:a16="http://schemas.microsoft.com/office/drawing/2014/main" id="{2AD00204-9079-48D2-9417-A95138C147B3}"/>
              </a:ext>
            </a:extLst>
          </p:cNvPr>
          <p:cNvGrpSpPr/>
          <p:nvPr/>
        </p:nvGrpSpPr>
        <p:grpSpPr>
          <a:xfrm>
            <a:off x="1828800" y="2462610"/>
            <a:ext cx="129240" cy="215640"/>
            <a:chOff x="1828800" y="2462610"/>
            <a:chExt cx="129240" cy="215640"/>
          </a:xfrm>
        </p:grpSpPr>
        <mc:AlternateContent xmlns:mc="http://schemas.openxmlformats.org/markup-compatibility/2006">
          <mc:Choice xmlns:p14="http://schemas.microsoft.com/office/powerpoint/2010/main" Requires="p14">
            <p:contentPart p14:bwMode="auto" r:id="rId16">
              <p14:nvContentPartPr>
                <p14:cNvPr id="19" name="Tinta 18">
                  <a:extLst>
                    <a:ext uri="{FF2B5EF4-FFF2-40B4-BE49-F238E27FC236}">
                      <a16:creationId xmlns:a16="http://schemas.microsoft.com/office/drawing/2014/main" id="{512AD135-6F18-40FA-B652-8C16EFD48193}"/>
                    </a:ext>
                  </a:extLst>
                </p14:cNvPr>
                <p14:cNvContentPartPr/>
                <p14:nvPr/>
              </p14:nvContentPartPr>
              <p14:xfrm>
                <a:off x="1828800" y="2462610"/>
                <a:ext cx="123120" cy="215640"/>
              </p14:xfrm>
            </p:contentPart>
          </mc:Choice>
          <mc:Fallback>
            <p:pic>
              <p:nvPicPr>
                <p:cNvPr id="19" name="Tinta 18">
                  <a:extLst>
                    <a:ext uri="{FF2B5EF4-FFF2-40B4-BE49-F238E27FC236}">
                      <a16:creationId xmlns:a16="http://schemas.microsoft.com/office/drawing/2014/main" id="{512AD135-6F18-40FA-B652-8C16EFD48193}"/>
                    </a:ext>
                  </a:extLst>
                </p:cNvPr>
                <p:cNvPicPr/>
                <p:nvPr/>
              </p:nvPicPr>
              <p:blipFill>
                <a:blip r:embed="rId17"/>
                <a:stretch>
                  <a:fillRect/>
                </a:stretch>
              </p:blipFill>
              <p:spPr>
                <a:xfrm>
                  <a:off x="1819800" y="2453610"/>
                  <a:ext cx="14076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0" name="Tinta 19">
                  <a:extLst>
                    <a:ext uri="{FF2B5EF4-FFF2-40B4-BE49-F238E27FC236}">
                      <a16:creationId xmlns:a16="http://schemas.microsoft.com/office/drawing/2014/main" id="{2D8F4C64-95BA-418B-AC68-F8D0A17A04E7}"/>
                    </a:ext>
                  </a:extLst>
                </p14:cNvPr>
                <p14:cNvContentPartPr/>
                <p14:nvPr/>
              </p14:nvContentPartPr>
              <p14:xfrm>
                <a:off x="1878120" y="2601930"/>
                <a:ext cx="79920" cy="8280"/>
              </p14:xfrm>
            </p:contentPart>
          </mc:Choice>
          <mc:Fallback>
            <p:pic>
              <p:nvPicPr>
                <p:cNvPr id="20" name="Tinta 19">
                  <a:extLst>
                    <a:ext uri="{FF2B5EF4-FFF2-40B4-BE49-F238E27FC236}">
                      <a16:creationId xmlns:a16="http://schemas.microsoft.com/office/drawing/2014/main" id="{2D8F4C64-95BA-418B-AC68-F8D0A17A04E7}"/>
                    </a:ext>
                  </a:extLst>
                </p:cNvPr>
                <p:cNvPicPr/>
                <p:nvPr/>
              </p:nvPicPr>
              <p:blipFill>
                <a:blip r:embed="rId19"/>
                <a:stretch>
                  <a:fillRect/>
                </a:stretch>
              </p:blipFill>
              <p:spPr>
                <a:xfrm>
                  <a:off x="1869480" y="2593290"/>
                  <a:ext cx="97560" cy="25920"/>
                </a:xfrm>
                <a:prstGeom prst="rect">
                  <a:avLst/>
                </a:prstGeom>
              </p:spPr>
            </p:pic>
          </mc:Fallback>
        </mc:AlternateContent>
      </p:grpSp>
      <p:grpSp>
        <p:nvGrpSpPr>
          <p:cNvPr id="26" name="Agrupar 25">
            <a:extLst>
              <a:ext uri="{FF2B5EF4-FFF2-40B4-BE49-F238E27FC236}">
                <a16:creationId xmlns:a16="http://schemas.microsoft.com/office/drawing/2014/main" id="{DD18BE8C-C130-4324-8907-BC6091E43804}"/>
              </a:ext>
            </a:extLst>
          </p:cNvPr>
          <p:cNvGrpSpPr/>
          <p:nvPr/>
        </p:nvGrpSpPr>
        <p:grpSpPr>
          <a:xfrm>
            <a:off x="1756080" y="3619290"/>
            <a:ext cx="486720" cy="291240"/>
            <a:chOff x="1756080" y="3619290"/>
            <a:chExt cx="486720" cy="291240"/>
          </a:xfrm>
        </p:grpSpPr>
        <mc:AlternateContent xmlns:mc="http://schemas.openxmlformats.org/markup-compatibility/2006">
          <mc:Choice xmlns:p14="http://schemas.microsoft.com/office/powerpoint/2010/main" Requires="p14">
            <p:contentPart p14:bwMode="auto" r:id="rId20">
              <p14:nvContentPartPr>
                <p14:cNvPr id="22" name="Tinta 21">
                  <a:extLst>
                    <a:ext uri="{FF2B5EF4-FFF2-40B4-BE49-F238E27FC236}">
                      <a16:creationId xmlns:a16="http://schemas.microsoft.com/office/drawing/2014/main" id="{EC8740A4-2C15-4238-A355-09B02E51B686}"/>
                    </a:ext>
                  </a:extLst>
                </p14:cNvPr>
                <p14:cNvContentPartPr/>
                <p14:nvPr/>
              </p14:nvContentPartPr>
              <p14:xfrm>
                <a:off x="1756080" y="3718650"/>
                <a:ext cx="191160" cy="146880"/>
              </p14:xfrm>
            </p:contentPart>
          </mc:Choice>
          <mc:Fallback>
            <p:pic>
              <p:nvPicPr>
                <p:cNvPr id="22" name="Tinta 21">
                  <a:extLst>
                    <a:ext uri="{FF2B5EF4-FFF2-40B4-BE49-F238E27FC236}">
                      <a16:creationId xmlns:a16="http://schemas.microsoft.com/office/drawing/2014/main" id="{EC8740A4-2C15-4238-A355-09B02E51B686}"/>
                    </a:ext>
                  </a:extLst>
                </p:cNvPr>
                <p:cNvPicPr/>
                <p:nvPr/>
              </p:nvPicPr>
              <p:blipFill>
                <a:blip r:embed="rId21"/>
                <a:stretch>
                  <a:fillRect/>
                </a:stretch>
              </p:blipFill>
              <p:spPr>
                <a:xfrm>
                  <a:off x="1747440" y="3709650"/>
                  <a:ext cx="20880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3" name="Tinta 22">
                  <a:extLst>
                    <a:ext uri="{FF2B5EF4-FFF2-40B4-BE49-F238E27FC236}">
                      <a16:creationId xmlns:a16="http://schemas.microsoft.com/office/drawing/2014/main" id="{3A1244EC-6608-4FB6-A734-14343D130427}"/>
                    </a:ext>
                  </a:extLst>
                </p14:cNvPr>
                <p14:cNvContentPartPr/>
                <p14:nvPr/>
              </p14:nvContentPartPr>
              <p14:xfrm>
                <a:off x="2030400" y="3722250"/>
                <a:ext cx="8640" cy="147600"/>
              </p14:xfrm>
            </p:contentPart>
          </mc:Choice>
          <mc:Fallback>
            <p:pic>
              <p:nvPicPr>
                <p:cNvPr id="23" name="Tinta 22">
                  <a:extLst>
                    <a:ext uri="{FF2B5EF4-FFF2-40B4-BE49-F238E27FC236}">
                      <a16:creationId xmlns:a16="http://schemas.microsoft.com/office/drawing/2014/main" id="{3A1244EC-6608-4FB6-A734-14343D130427}"/>
                    </a:ext>
                  </a:extLst>
                </p:cNvPr>
                <p:cNvPicPr/>
                <p:nvPr/>
              </p:nvPicPr>
              <p:blipFill>
                <a:blip r:embed="rId23"/>
                <a:stretch>
                  <a:fillRect/>
                </a:stretch>
              </p:blipFill>
              <p:spPr>
                <a:xfrm>
                  <a:off x="2021400" y="3713250"/>
                  <a:ext cx="2628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4" name="Tinta 23">
                  <a:extLst>
                    <a:ext uri="{FF2B5EF4-FFF2-40B4-BE49-F238E27FC236}">
                      <a16:creationId xmlns:a16="http://schemas.microsoft.com/office/drawing/2014/main" id="{6C270CB2-469F-4921-A4B4-6BEBB48394EB}"/>
                    </a:ext>
                  </a:extLst>
                </p14:cNvPr>
                <p14:cNvContentPartPr/>
                <p14:nvPr/>
              </p14:nvContentPartPr>
              <p14:xfrm>
                <a:off x="2068560" y="3619290"/>
                <a:ext cx="360" cy="22320"/>
              </p14:xfrm>
            </p:contentPart>
          </mc:Choice>
          <mc:Fallback>
            <p:pic>
              <p:nvPicPr>
                <p:cNvPr id="24" name="Tinta 23">
                  <a:extLst>
                    <a:ext uri="{FF2B5EF4-FFF2-40B4-BE49-F238E27FC236}">
                      <a16:creationId xmlns:a16="http://schemas.microsoft.com/office/drawing/2014/main" id="{6C270CB2-469F-4921-A4B4-6BEBB48394EB}"/>
                    </a:ext>
                  </a:extLst>
                </p:cNvPr>
                <p:cNvPicPr/>
                <p:nvPr/>
              </p:nvPicPr>
              <p:blipFill>
                <a:blip r:embed="rId25"/>
                <a:stretch>
                  <a:fillRect/>
                </a:stretch>
              </p:blipFill>
              <p:spPr>
                <a:xfrm>
                  <a:off x="2059920" y="3610650"/>
                  <a:ext cx="1800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5" name="Tinta 24">
                  <a:extLst>
                    <a:ext uri="{FF2B5EF4-FFF2-40B4-BE49-F238E27FC236}">
                      <a16:creationId xmlns:a16="http://schemas.microsoft.com/office/drawing/2014/main" id="{D7B909B4-4C0D-401C-BEF2-9565B248345B}"/>
                    </a:ext>
                  </a:extLst>
                </p14:cNvPr>
                <p14:cNvContentPartPr/>
                <p14:nvPr/>
              </p14:nvContentPartPr>
              <p14:xfrm>
                <a:off x="2072520" y="3707490"/>
                <a:ext cx="170280" cy="203040"/>
              </p14:xfrm>
            </p:contentPart>
          </mc:Choice>
          <mc:Fallback>
            <p:pic>
              <p:nvPicPr>
                <p:cNvPr id="25" name="Tinta 24">
                  <a:extLst>
                    <a:ext uri="{FF2B5EF4-FFF2-40B4-BE49-F238E27FC236}">
                      <a16:creationId xmlns:a16="http://schemas.microsoft.com/office/drawing/2014/main" id="{D7B909B4-4C0D-401C-BEF2-9565B248345B}"/>
                    </a:ext>
                  </a:extLst>
                </p:cNvPr>
                <p:cNvPicPr/>
                <p:nvPr/>
              </p:nvPicPr>
              <p:blipFill>
                <a:blip r:embed="rId27"/>
                <a:stretch>
                  <a:fillRect/>
                </a:stretch>
              </p:blipFill>
              <p:spPr>
                <a:xfrm>
                  <a:off x="2063520" y="3698490"/>
                  <a:ext cx="187920" cy="220680"/>
                </a:xfrm>
                <a:prstGeom prst="rect">
                  <a:avLst/>
                </a:prstGeom>
              </p:spPr>
            </p:pic>
          </mc:Fallback>
        </mc:AlternateContent>
      </p:grpSp>
      <p:grpSp>
        <p:nvGrpSpPr>
          <p:cNvPr id="32" name="Agrupar 31">
            <a:extLst>
              <a:ext uri="{FF2B5EF4-FFF2-40B4-BE49-F238E27FC236}">
                <a16:creationId xmlns:a16="http://schemas.microsoft.com/office/drawing/2014/main" id="{4579D02B-7E68-4AFB-9D22-3FF260EC375F}"/>
              </a:ext>
            </a:extLst>
          </p:cNvPr>
          <p:cNvGrpSpPr/>
          <p:nvPr/>
        </p:nvGrpSpPr>
        <p:grpSpPr>
          <a:xfrm>
            <a:off x="1154160" y="1545330"/>
            <a:ext cx="689760" cy="317520"/>
            <a:chOff x="1154160" y="1545330"/>
            <a:chExt cx="689760" cy="317520"/>
          </a:xfrm>
        </p:grpSpPr>
        <mc:AlternateContent xmlns:mc="http://schemas.openxmlformats.org/markup-compatibility/2006">
          <mc:Choice xmlns:p14="http://schemas.microsoft.com/office/powerpoint/2010/main" Requires="p14">
            <p:contentPart p14:bwMode="auto" r:id="rId28">
              <p14:nvContentPartPr>
                <p14:cNvPr id="11" name="Tinta 10">
                  <a:extLst>
                    <a:ext uri="{FF2B5EF4-FFF2-40B4-BE49-F238E27FC236}">
                      <a16:creationId xmlns:a16="http://schemas.microsoft.com/office/drawing/2014/main" id="{812699EE-9E6E-401B-AADD-3A22272898CA}"/>
                    </a:ext>
                  </a:extLst>
                </p14:cNvPr>
                <p14:cNvContentPartPr/>
                <p14:nvPr/>
              </p14:nvContentPartPr>
              <p14:xfrm>
                <a:off x="1729440" y="1596090"/>
                <a:ext cx="30960" cy="118080"/>
              </p14:xfrm>
            </p:contentPart>
          </mc:Choice>
          <mc:Fallback>
            <p:pic>
              <p:nvPicPr>
                <p:cNvPr id="11" name="Tinta 10">
                  <a:extLst>
                    <a:ext uri="{FF2B5EF4-FFF2-40B4-BE49-F238E27FC236}">
                      <a16:creationId xmlns:a16="http://schemas.microsoft.com/office/drawing/2014/main" id="{812699EE-9E6E-401B-AADD-3A22272898CA}"/>
                    </a:ext>
                  </a:extLst>
                </p:cNvPr>
                <p:cNvPicPr/>
                <p:nvPr/>
              </p:nvPicPr>
              <p:blipFill>
                <a:blip r:embed="rId29"/>
                <a:stretch>
                  <a:fillRect/>
                </a:stretch>
              </p:blipFill>
              <p:spPr>
                <a:xfrm>
                  <a:off x="1720800" y="1587450"/>
                  <a:ext cx="486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2" name="Tinta 11">
                  <a:extLst>
                    <a:ext uri="{FF2B5EF4-FFF2-40B4-BE49-F238E27FC236}">
                      <a16:creationId xmlns:a16="http://schemas.microsoft.com/office/drawing/2014/main" id="{42FEF2D0-8DDD-4C36-8AFE-E0065AC3879B}"/>
                    </a:ext>
                  </a:extLst>
                </p14:cNvPr>
                <p14:cNvContentPartPr/>
                <p14:nvPr/>
              </p14:nvContentPartPr>
              <p14:xfrm>
                <a:off x="1725840" y="1563690"/>
                <a:ext cx="118080" cy="159480"/>
              </p14:xfrm>
            </p:contentPart>
          </mc:Choice>
          <mc:Fallback>
            <p:pic>
              <p:nvPicPr>
                <p:cNvPr id="12" name="Tinta 11">
                  <a:extLst>
                    <a:ext uri="{FF2B5EF4-FFF2-40B4-BE49-F238E27FC236}">
                      <a16:creationId xmlns:a16="http://schemas.microsoft.com/office/drawing/2014/main" id="{42FEF2D0-8DDD-4C36-8AFE-E0065AC3879B}"/>
                    </a:ext>
                  </a:extLst>
                </p:cNvPr>
                <p:cNvPicPr/>
                <p:nvPr/>
              </p:nvPicPr>
              <p:blipFill>
                <a:blip r:embed="rId31"/>
                <a:stretch>
                  <a:fillRect/>
                </a:stretch>
              </p:blipFill>
              <p:spPr>
                <a:xfrm>
                  <a:off x="1716840" y="1554690"/>
                  <a:ext cx="13572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7" name="Tinta 26">
                  <a:extLst>
                    <a:ext uri="{FF2B5EF4-FFF2-40B4-BE49-F238E27FC236}">
                      <a16:creationId xmlns:a16="http://schemas.microsoft.com/office/drawing/2014/main" id="{6323F16A-6C81-4A5C-A1C5-1BD00601D2DE}"/>
                    </a:ext>
                  </a:extLst>
                </p14:cNvPr>
                <p14:cNvContentPartPr/>
                <p14:nvPr/>
              </p14:nvContentPartPr>
              <p14:xfrm>
                <a:off x="1154160" y="1545330"/>
                <a:ext cx="198720" cy="207360"/>
              </p14:xfrm>
            </p:contentPart>
          </mc:Choice>
          <mc:Fallback>
            <p:pic>
              <p:nvPicPr>
                <p:cNvPr id="27" name="Tinta 26">
                  <a:extLst>
                    <a:ext uri="{FF2B5EF4-FFF2-40B4-BE49-F238E27FC236}">
                      <a16:creationId xmlns:a16="http://schemas.microsoft.com/office/drawing/2014/main" id="{6323F16A-6C81-4A5C-A1C5-1BD00601D2DE}"/>
                    </a:ext>
                  </a:extLst>
                </p:cNvPr>
                <p:cNvPicPr/>
                <p:nvPr/>
              </p:nvPicPr>
              <p:blipFill>
                <a:blip r:embed="rId33"/>
                <a:stretch>
                  <a:fillRect/>
                </a:stretch>
              </p:blipFill>
              <p:spPr>
                <a:xfrm>
                  <a:off x="1145520" y="1536690"/>
                  <a:ext cx="21636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8" name="Tinta 27">
                  <a:extLst>
                    <a:ext uri="{FF2B5EF4-FFF2-40B4-BE49-F238E27FC236}">
                      <a16:creationId xmlns:a16="http://schemas.microsoft.com/office/drawing/2014/main" id="{9844BC69-BE66-42D2-88D3-29F29C4743EF}"/>
                    </a:ext>
                  </a:extLst>
                </p14:cNvPr>
                <p14:cNvContentPartPr/>
                <p14:nvPr/>
              </p14:nvContentPartPr>
              <p14:xfrm>
                <a:off x="1367640" y="1655490"/>
                <a:ext cx="87840" cy="154440"/>
              </p14:xfrm>
            </p:contentPart>
          </mc:Choice>
          <mc:Fallback>
            <p:pic>
              <p:nvPicPr>
                <p:cNvPr id="28" name="Tinta 27">
                  <a:extLst>
                    <a:ext uri="{FF2B5EF4-FFF2-40B4-BE49-F238E27FC236}">
                      <a16:creationId xmlns:a16="http://schemas.microsoft.com/office/drawing/2014/main" id="{9844BC69-BE66-42D2-88D3-29F29C4743EF}"/>
                    </a:ext>
                  </a:extLst>
                </p:cNvPr>
                <p:cNvPicPr/>
                <p:nvPr/>
              </p:nvPicPr>
              <p:blipFill>
                <a:blip r:embed="rId35"/>
                <a:stretch>
                  <a:fillRect/>
                </a:stretch>
              </p:blipFill>
              <p:spPr>
                <a:xfrm>
                  <a:off x="1358640" y="1646490"/>
                  <a:ext cx="10548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9" name="Tinta 28">
                  <a:extLst>
                    <a:ext uri="{FF2B5EF4-FFF2-40B4-BE49-F238E27FC236}">
                      <a16:creationId xmlns:a16="http://schemas.microsoft.com/office/drawing/2014/main" id="{973BB28A-BCA0-4973-9B3A-4D32D8B109E5}"/>
                    </a:ext>
                  </a:extLst>
                </p14:cNvPr>
                <p14:cNvContentPartPr/>
                <p14:nvPr/>
              </p14:nvContentPartPr>
              <p14:xfrm>
                <a:off x="1409400" y="1744770"/>
                <a:ext cx="46800" cy="18360"/>
              </p14:xfrm>
            </p:contentPart>
          </mc:Choice>
          <mc:Fallback>
            <p:pic>
              <p:nvPicPr>
                <p:cNvPr id="29" name="Tinta 28">
                  <a:extLst>
                    <a:ext uri="{FF2B5EF4-FFF2-40B4-BE49-F238E27FC236}">
                      <a16:creationId xmlns:a16="http://schemas.microsoft.com/office/drawing/2014/main" id="{973BB28A-BCA0-4973-9B3A-4D32D8B109E5}"/>
                    </a:ext>
                  </a:extLst>
                </p:cNvPr>
                <p:cNvPicPr/>
                <p:nvPr/>
              </p:nvPicPr>
              <p:blipFill>
                <a:blip r:embed="rId37"/>
                <a:stretch>
                  <a:fillRect/>
                </a:stretch>
              </p:blipFill>
              <p:spPr>
                <a:xfrm>
                  <a:off x="1400760" y="1736130"/>
                  <a:ext cx="644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0" name="Tinta 29">
                  <a:extLst>
                    <a:ext uri="{FF2B5EF4-FFF2-40B4-BE49-F238E27FC236}">
                      <a16:creationId xmlns:a16="http://schemas.microsoft.com/office/drawing/2014/main" id="{CEAB1E73-2E14-451B-8464-BEB94B078490}"/>
                    </a:ext>
                  </a:extLst>
                </p14:cNvPr>
                <p14:cNvContentPartPr/>
                <p14:nvPr/>
              </p14:nvContentPartPr>
              <p14:xfrm>
                <a:off x="1508760" y="1668450"/>
                <a:ext cx="57240" cy="194400"/>
              </p14:xfrm>
            </p:contentPart>
          </mc:Choice>
          <mc:Fallback>
            <p:pic>
              <p:nvPicPr>
                <p:cNvPr id="30" name="Tinta 29">
                  <a:extLst>
                    <a:ext uri="{FF2B5EF4-FFF2-40B4-BE49-F238E27FC236}">
                      <a16:creationId xmlns:a16="http://schemas.microsoft.com/office/drawing/2014/main" id="{CEAB1E73-2E14-451B-8464-BEB94B078490}"/>
                    </a:ext>
                  </a:extLst>
                </p:cNvPr>
                <p:cNvPicPr/>
                <p:nvPr/>
              </p:nvPicPr>
              <p:blipFill>
                <a:blip r:embed="rId39"/>
                <a:stretch>
                  <a:fillRect/>
                </a:stretch>
              </p:blipFill>
              <p:spPr>
                <a:xfrm>
                  <a:off x="1499760" y="1659810"/>
                  <a:ext cx="7488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1" name="Tinta 30">
                  <a:extLst>
                    <a:ext uri="{FF2B5EF4-FFF2-40B4-BE49-F238E27FC236}">
                      <a16:creationId xmlns:a16="http://schemas.microsoft.com/office/drawing/2014/main" id="{358CBA90-B8DB-444E-98A5-0A52274AAE3C}"/>
                    </a:ext>
                  </a:extLst>
                </p14:cNvPr>
                <p14:cNvContentPartPr/>
                <p14:nvPr/>
              </p14:nvContentPartPr>
              <p14:xfrm>
                <a:off x="1485720" y="1732890"/>
                <a:ext cx="130320" cy="77040"/>
              </p14:xfrm>
            </p:contentPart>
          </mc:Choice>
          <mc:Fallback>
            <p:pic>
              <p:nvPicPr>
                <p:cNvPr id="31" name="Tinta 30">
                  <a:extLst>
                    <a:ext uri="{FF2B5EF4-FFF2-40B4-BE49-F238E27FC236}">
                      <a16:creationId xmlns:a16="http://schemas.microsoft.com/office/drawing/2014/main" id="{358CBA90-B8DB-444E-98A5-0A52274AAE3C}"/>
                    </a:ext>
                  </a:extLst>
                </p:cNvPr>
                <p:cNvPicPr/>
                <p:nvPr/>
              </p:nvPicPr>
              <p:blipFill>
                <a:blip r:embed="rId41"/>
                <a:stretch>
                  <a:fillRect/>
                </a:stretch>
              </p:blipFill>
              <p:spPr>
                <a:xfrm>
                  <a:off x="1476720" y="1723890"/>
                  <a:ext cx="147960" cy="94680"/>
                </a:xfrm>
                <a:prstGeom prst="rect">
                  <a:avLst/>
                </a:prstGeom>
              </p:spPr>
            </p:pic>
          </mc:Fallback>
        </mc:AlternateContent>
      </p:gr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086545"/>
            <a:ext cx="10868745" cy="2953246"/>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5.1 "O QUE O VALOR DE a REPRESENTA NO SEU FENÔMENO? E O VALOR DE b? RESPONDAM USANDO AS UNIDADES DO PROBLEMA (HORAS, METROS, GRAUS CELSIUS…), NÃO APENAS O NÚMERO."</a:t>
            </a:r>
            <a:endParaRPr lang="en-US" sz="3700" dirty="0"/>
          </a:p>
        </p:txBody>
      </p:sp>
      <p:sp>
        <p:nvSpPr>
          <p:cNvPr id="3" name="Shape 1"/>
          <p:cNvSpPr/>
          <p:nvPr/>
        </p:nvSpPr>
        <p:spPr>
          <a:xfrm>
            <a:off x="525350" y="4323259"/>
            <a:ext cx="5476043" cy="1448197"/>
          </a:xfrm>
          <a:prstGeom prst="roundRect">
            <a:avLst>
              <a:gd name="adj" fmla="val 31325"/>
            </a:avLst>
          </a:prstGeom>
          <a:solidFill>
            <a:srgbClr val="626C3B"/>
          </a:solidFill>
          <a:ln/>
        </p:spPr>
      </p:sp>
      <p:sp>
        <p:nvSpPr>
          <p:cNvPr id="4" name="Text 2"/>
          <p:cNvSpPr/>
          <p:nvPr/>
        </p:nvSpPr>
        <p:spPr>
          <a:xfrm>
            <a:off x="714357" y="4512270"/>
            <a:ext cx="5098029"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Brygada 1918 SemiBold" pitchFamily="34" charset="0"/>
                <a:ea typeface="Brygada 1918 SemiBold" pitchFamily="34" charset="-122"/>
                <a:cs typeface="Brygada 1918 SemiBold" pitchFamily="34" charset="-120"/>
              </a:rPr>
              <a:t>Valor de a</a:t>
            </a:r>
            <a:endParaRPr lang="en-US" sz="1850" dirty="0"/>
          </a:p>
        </p:txBody>
      </p:sp>
      <p:sp>
        <p:nvSpPr>
          <p:cNvPr id="5" name="Text 3"/>
          <p:cNvSpPr/>
          <p:nvPr/>
        </p:nvSpPr>
        <p:spPr>
          <a:xfrm>
            <a:off x="714357" y="4996557"/>
            <a:ext cx="509802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Brygada 1918" pitchFamily="34" charset="0"/>
                <a:ea typeface="Brygada 1918" pitchFamily="34" charset="-122"/>
                <a:cs typeface="Brygada 1918" pitchFamily="34" charset="-120"/>
              </a:rPr>
              <a:t>O valor de a representa o momento em que a pressão causada pelo som é nula, ou seja, 0</a:t>
            </a:r>
            <a:endParaRPr lang="en-US" sz="1450" dirty="0"/>
          </a:p>
        </p:txBody>
      </p:sp>
      <p:sp>
        <p:nvSpPr>
          <p:cNvPr id="6" name="Text 4"/>
          <p:cNvSpPr/>
          <p:nvPr/>
        </p:nvSpPr>
        <p:spPr>
          <a:xfrm>
            <a:off x="6332776" y="4512270"/>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403011"/>
                </a:solidFill>
                <a:latin typeface="Brygada 1918 SemiBold" pitchFamily="34" charset="0"/>
                <a:ea typeface="Brygada 1918 SemiBold" pitchFamily="34" charset="-122"/>
                <a:cs typeface="Brygada 1918 SemiBold" pitchFamily="34" charset="-120"/>
              </a:rPr>
              <a:t>Valor de b</a:t>
            </a:r>
            <a:endParaRPr lang="en-US" sz="1850" dirty="0"/>
          </a:p>
        </p:txBody>
      </p:sp>
      <p:sp>
        <p:nvSpPr>
          <p:cNvPr id="7" name="Text 5"/>
          <p:cNvSpPr/>
          <p:nvPr/>
        </p:nvSpPr>
        <p:spPr>
          <a:xfrm>
            <a:off x="6332776" y="4996557"/>
            <a:ext cx="520379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O valor b representa o momento em que a pressão causada pelo som é máxima, ou seja, 1</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91707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5.2 PERÍODO, FREQUÊNCIA E AMPLITUDE</a:t>
            </a:r>
            <a:endParaRPr lang="en-US" sz="3700" dirty="0"/>
          </a:p>
        </p:txBody>
      </p:sp>
      <p:sp>
        <p:nvSpPr>
          <p:cNvPr id="3" name="Text 1"/>
          <p:cNvSpPr/>
          <p:nvPr/>
        </p:nvSpPr>
        <p:spPr>
          <a:xfrm>
            <a:off x="661475" y="1791196"/>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Com base nos cálculos e na análise da nota F# 3, podemos determinar os principais parâmetros da função que descreve essa onda sonora.</a:t>
            </a:r>
            <a:endParaRPr lang="en-US" sz="1450" dirty="0"/>
          </a:p>
        </p:txBody>
      </p:sp>
      <p:sp>
        <p:nvSpPr>
          <p:cNvPr id="4" name="Shape 2"/>
          <p:cNvSpPr/>
          <p:nvPr/>
        </p:nvSpPr>
        <p:spPr>
          <a:xfrm>
            <a:off x="661475" y="2608659"/>
            <a:ext cx="3496877" cy="3332163"/>
          </a:xfrm>
          <a:prstGeom prst="roundRect">
            <a:avLst>
              <a:gd name="adj" fmla="val 8509"/>
            </a:avLst>
          </a:prstGeom>
          <a:solidFill>
            <a:srgbClr val="626C3B"/>
          </a:solidFill>
          <a:ln w="6350">
            <a:solidFill>
              <a:srgbClr val="7B8554"/>
            </a:solidFill>
            <a:prstDash val="solid"/>
          </a:ln>
        </p:spPr>
      </p:sp>
      <p:sp>
        <p:nvSpPr>
          <p:cNvPr id="5" name="Text 3"/>
          <p:cNvSpPr/>
          <p:nvPr/>
        </p:nvSpPr>
        <p:spPr>
          <a:xfrm>
            <a:off x="856832" y="2804021"/>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Brygada 1918 SemiBold" pitchFamily="34" charset="0"/>
                <a:ea typeface="Brygada 1918 SemiBold" pitchFamily="34" charset="-122"/>
                <a:cs typeface="Brygada 1918 SemiBold" pitchFamily="34" charset="-120"/>
              </a:rPr>
              <a:t>PERÍODO (P)</a:t>
            </a:r>
            <a:endParaRPr lang="en-US" sz="1850" dirty="0"/>
          </a:p>
        </p:txBody>
      </p:sp>
      <p:sp>
        <p:nvSpPr>
          <p:cNvPr id="6" name="Text 4"/>
          <p:cNvSpPr/>
          <p:nvPr/>
        </p:nvSpPr>
        <p:spPr>
          <a:xfrm>
            <a:off x="856832" y="3212703"/>
            <a:ext cx="3106164" cy="2532757"/>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1450" b="1" dirty="0">
                <a:solidFill>
                  <a:srgbClr val="FFFFFF"/>
                </a:solidFill>
                <a:latin typeface="Brygada 1918 Bold" pitchFamily="34" charset="0"/>
                <a:ea typeface="Brygada 1918 Bold" pitchFamily="34" charset="-122"/>
                <a:cs typeface="Brygada 1918 Bold" pitchFamily="34" charset="-120"/>
              </a:rPr>
              <a:t>0,00271 segundos (≈2,71 milissegundos)</a:t>
            </a:r>
            <a:endParaRPr lang="en-US" sz="1450" dirty="0"/>
          </a:p>
          <a:p>
            <a:pPr marL="0" indent="0" algn="l">
              <a:lnSpc>
                <a:spcPct val="133000"/>
              </a:lnSpc>
              <a:buNone/>
            </a:pPr>
            <a:r>
              <a:rPr lang="en-US" sz="1450" dirty="0">
                <a:solidFill>
                  <a:srgbClr val="FFFFFF"/>
                </a:solidFill>
                <a:latin typeface="Brygada 1918" pitchFamily="34" charset="0"/>
                <a:ea typeface="Brygada 1918" pitchFamily="34" charset="-122"/>
                <a:cs typeface="Brygada 1918" pitchFamily="34" charset="-120"/>
              </a:rPr>
              <a:t>O período representa o tempo necessário para que a onda sonora complete um ciclo completo. Para a nota F# 3, cada ciclo da onda dura aproximadamente 2,71 milissegundos.</a:t>
            </a:r>
            <a:endParaRPr lang="en-US" sz="1450" dirty="0"/>
          </a:p>
        </p:txBody>
      </p:sp>
      <p:sp>
        <p:nvSpPr>
          <p:cNvPr id="7" name="Shape 5"/>
          <p:cNvSpPr/>
          <p:nvPr/>
        </p:nvSpPr>
        <p:spPr>
          <a:xfrm>
            <a:off x="4347359" y="2608659"/>
            <a:ext cx="3496877" cy="3332163"/>
          </a:xfrm>
          <a:prstGeom prst="roundRect">
            <a:avLst>
              <a:gd name="adj" fmla="val 8509"/>
            </a:avLst>
          </a:prstGeom>
          <a:solidFill>
            <a:srgbClr val="83792E"/>
          </a:solidFill>
          <a:ln w="6350">
            <a:solidFill>
              <a:srgbClr val="9C9247"/>
            </a:solidFill>
            <a:prstDash val="solid"/>
          </a:ln>
        </p:spPr>
      </p:sp>
      <p:sp>
        <p:nvSpPr>
          <p:cNvPr id="8" name="Text 6"/>
          <p:cNvSpPr/>
          <p:nvPr/>
        </p:nvSpPr>
        <p:spPr>
          <a:xfrm>
            <a:off x="4542716" y="2804021"/>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Brygada 1918 SemiBold" pitchFamily="34" charset="0"/>
                <a:ea typeface="Brygada 1918 SemiBold" pitchFamily="34" charset="-122"/>
                <a:cs typeface="Brygada 1918 SemiBold" pitchFamily="34" charset="-120"/>
              </a:rPr>
              <a:t>FREQUÊNCIA (f)</a:t>
            </a:r>
            <a:endParaRPr lang="en-US" sz="1850" dirty="0"/>
          </a:p>
        </p:txBody>
      </p:sp>
      <p:sp>
        <p:nvSpPr>
          <p:cNvPr id="9" name="Text 7"/>
          <p:cNvSpPr/>
          <p:nvPr/>
        </p:nvSpPr>
        <p:spPr>
          <a:xfrm>
            <a:off x="4542716" y="3212703"/>
            <a:ext cx="3106164" cy="2230338"/>
          </a:xfrm>
          <a:prstGeom prst="rect">
            <a:avLst/>
          </a:prstGeom>
          <a:noFill/>
          <a:ln/>
        </p:spPr>
        <p:txBody>
          <a:bodyPr wrap="square" lIns="0" tIns="0" rIns="0" bIns="0" rtlCol="0" anchor="t"/>
          <a:lstStyle/>
          <a:p>
            <a:pPr marL="0" indent="0" algn="l">
              <a:lnSpc>
                <a:spcPct val="133000"/>
              </a:lnSpc>
              <a:spcAft>
                <a:spcPts val="850"/>
              </a:spcAft>
              <a:buNone/>
            </a:pPr>
            <a:r>
              <a:rPr lang="en-US" sz="1450" b="1" dirty="0">
                <a:solidFill>
                  <a:srgbClr val="FFFFFF"/>
                </a:solidFill>
                <a:latin typeface="Brygada 1918 Bold" pitchFamily="34" charset="0"/>
                <a:ea typeface="Brygada 1918 Bold" pitchFamily="34" charset="-122"/>
                <a:cs typeface="Brygada 1918 Bold" pitchFamily="34" charset="-120"/>
              </a:rPr>
              <a:t>369 Hz</a:t>
            </a:r>
            <a:endParaRPr lang="en-US" sz="1450" dirty="0"/>
          </a:p>
          <a:p>
            <a:pPr marL="0" indent="0" algn="l">
              <a:lnSpc>
                <a:spcPct val="133000"/>
              </a:lnSpc>
              <a:buNone/>
            </a:pPr>
            <a:r>
              <a:rPr lang="en-US" sz="1450" dirty="0">
                <a:solidFill>
                  <a:srgbClr val="FFFFFF"/>
                </a:solidFill>
                <a:latin typeface="Brygada 1918" pitchFamily="34" charset="0"/>
                <a:ea typeface="Brygada 1918" pitchFamily="34" charset="-122"/>
                <a:cs typeface="Brygada 1918" pitchFamily="34" charset="-120"/>
              </a:rPr>
              <a:t>A frequência indica quantas vezes a onda sonora se repete por segundo. A nota F# 3 tem uma frequência de 369 Hertz, o que significa que ela vibra 369 vezes por segundo.</a:t>
            </a:r>
            <a:endParaRPr lang="en-US" sz="1450" dirty="0"/>
          </a:p>
        </p:txBody>
      </p:sp>
      <p:sp>
        <p:nvSpPr>
          <p:cNvPr id="10" name="Shape 8"/>
          <p:cNvSpPr/>
          <p:nvPr/>
        </p:nvSpPr>
        <p:spPr>
          <a:xfrm>
            <a:off x="8033244" y="2608659"/>
            <a:ext cx="3496877" cy="3332163"/>
          </a:xfrm>
          <a:prstGeom prst="roundRect">
            <a:avLst>
              <a:gd name="adj" fmla="val 8509"/>
            </a:avLst>
          </a:prstGeom>
          <a:solidFill>
            <a:srgbClr val="E8AF3B"/>
          </a:solidFill>
          <a:ln w="6350">
            <a:solidFill>
              <a:srgbClr val="CE9521"/>
            </a:solidFill>
            <a:prstDash val="solid"/>
          </a:ln>
        </p:spPr>
      </p:sp>
      <p:sp>
        <p:nvSpPr>
          <p:cNvPr id="11" name="Text 9"/>
          <p:cNvSpPr/>
          <p:nvPr/>
        </p:nvSpPr>
        <p:spPr>
          <a:xfrm>
            <a:off x="8228600" y="2804021"/>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000000"/>
                </a:solidFill>
                <a:latin typeface="Brygada 1918 SemiBold" pitchFamily="34" charset="0"/>
                <a:ea typeface="Brygada 1918 SemiBold" pitchFamily="34" charset="-122"/>
                <a:cs typeface="Brygada 1918 SemiBold" pitchFamily="34" charset="-120"/>
              </a:rPr>
              <a:t>AMPLITUDE (b)</a:t>
            </a:r>
            <a:endParaRPr lang="en-US" sz="1850" dirty="0"/>
          </a:p>
        </p:txBody>
      </p:sp>
      <p:sp>
        <p:nvSpPr>
          <p:cNvPr id="12" name="Text 10"/>
          <p:cNvSpPr/>
          <p:nvPr/>
        </p:nvSpPr>
        <p:spPr>
          <a:xfrm>
            <a:off x="8228600" y="3212703"/>
            <a:ext cx="3106164" cy="2532757"/>
          </a:xfrm>
          <a:prstGeom prst="rect">
            <a:avLst/>
          </a:prstGeom>
          <a:noFill/>
          <a:ln/>
        </p:spPr>
        <p:txBody>
          <a:bodyPr wrap="square" lIns="0" tIns="0" rIns="0" bIns="0" rtlCol="0" anchor="t"/>
          <a:lstStyle/>
          <a:p>
            <a:pPr marL="0" indent="0" algn="l">
              <a:lnSpc>
                <a:spcPct val="133000"/>
              </a:lnSpc>
              <a:spcAft>
                <a:spcPts val="850"/>
              </a:spcAft>
              <a:buNone/>
            </a:pPr>
            <a:r>
              <a:rPr lang="en-US" sz="1450" b="1" dirty="0">
                <a:solidFill>
                  <a:srgbClr val="000000"/>
                </a:solidFill>
                <a:latin typeface="Brygada 1918 Bold" pitchFamily="34" charset="0"/>
                <a:ea typeface="Brygada 1918 Bold" pitchFamily="34" charset="-122"/>
                <a:cs typeface="Brygada 1918 Bold" pitchFamily="34" charset="-120"/>
              </a:rPr>
              <a:t>1 (normalizado)</a:t>
            </a:r>
            <a:endParaRPr lang="en-US" sz="1450" dirty="0"/>
          </a:p>
          <a:p>
            <a:pPr marL="0" indent="0" algn="l">
              <a:lnSpc>
                <a:spcPct val="133000"/>
              </a:lnSpc>
              <a:buNone/>
            </a:pPr>
            <a:r>
              <a:rPr lang="en-US" sz="1450" dirty="0">
                <a:solidFill>
                  <a:srgbClr val="000000"/>
                </a:solidFill>
                <a:latin typeface="Brygada 1918" pitchFamily="34" charset="0"/>
                <a:ea typeface="Brygada 1918" pitchFamily="34" charset="-122"/>
                <a:cs typeface="Brygada 1918" pitchFamily="34" charset="-120"/>
              </a:rPr>
              <a:t>A amplitude mede a intensidade máxima do deslocamento da onda a partir de seu ponto de equilíbrio. Neste caso normalizado, a amplitude de 1 indica o pico de compressão ou rarefação do ar, variando entre -1 e +1.</a:t>
            </a:r>
            <a:endParaRPr lang="en-US" sz="1450" dirty="0"/>
          </a:p>
        </p:txBody>
      </p:sp>
    </p:spTree>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94585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5.3 PREVISÃO E COMPARAÇÃO DE VALORES</a:t>
            </a:r>
            <a:endParaRPr lang="en-US" sz="3700" dirty="0"/>
          </a:p>
        </p:txBody>
      </p:sp>
      <p:sp>
        <p:nvSpPr>
          <p:cNvPr id="3" name="Text 1"/>
          <p:cNvSpPr/>
          <p:nvPr/>
        </p:nvSpPr>
        <p:spPr>
          <a:xfrm>
            <a:off x="661475" y="1914525"/>
            <a:ext cx="10868745" cy="1119882"/>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       </a:t>
            </a:r>
            <a:r>
              <a:rPr lang="en-US" sz="1450" b="1" dirty="0">
                <a:solidFill>
                  <a:srgbClr val="403011"/>
                </a:solidFill>
                <a:latin typeface="Brygada 1918 Bold" pitchFamily="34" charset="0"/>
                <a:ea typeface="Brygada 1918 Bold" pitchFamily="34" charset="-122"/>
                <a:cs typeface="Brygada 1918 Bold" pitchFamily="34" charset="-120"/>
              </a:rPr>
              <a:t>"ESCOLHAM UM INSTANTE QUE NÃO ESTÁ NA TABELA DE VOCÊS, CALCULEM O VALOR PREVISTO PELA FUNÇÃO E COMPAREM COM O VALOR REAL (BUSCANDO NA MESMA FONTE). A PREVISÃO CHEGOU PERTO?"</a:t>
            </a:r>
            <a:r>
              <a:rPr lang="en-US" sz="1450" dirty="0">
                <a:solidFill>
                  <a:srgbClr val="403011"/>
                </a:solidFill>
                <a:latin typeface="Brygada 1918" pitchFamily="34" charset="0"/>
                <a:ea typeface="Brygada 1918" pitchFamily="34" charset="-122"/>
                <a:cs typeface="Brygada 1918" pitchFamily="34" charset="-120"/>
              </a:rPr>
              <a:t>     </a:t>
            </a:r>
            <a:endParaRPr lang="en-US" sz="1450" dirty="0"/>
          </a:p>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Escolhemos a nota D# 1 com frequência de 19,445435 Hz</a:t>
            </a:r>
            <a:endParaRPr lang="en-US" sz="1450" dirty="0"/>
          </a:p>
        </p:txBody>
      </p:sp>
      <p:sp>
        <p:nvSpPr>
          <p:cNvPr id="4" name="Text 2"/>
          <p:cNvSpPr/>
          <p:nvPr/>
        </p:nvSpPr>
        <p:spPr>
          <a:xfrm>
            <a:off x="661475" y="3247033"/>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O seu período é: </a:t>
            </a:r>
            <a:r>
              <a:rPr lang="en-US" sz="1450" i="1" dirty="0">
                <a:solidFill>
                  <a:srgbClr val="403011"/>
                </a:solidFill>
                <a:latin typeface="Brygada 1918" pitchFamily="34" charset="0"/>
                <a:ea typeface="Brygada 1918" pitchFamily="34" charset="-122"/>
                <a:cs typeface="Brygada 1918" pitchFamily="34" charset="-120"/>
              </a:rPr>
              <a:t>             </a:t>
            </a:r>
            <a:endParaRPr lang="en-US" sz="1450" dirty="0"/>
          </a:p>
        </p:txBody>
      </p:sp>
      <p:pic>
        <p:nvPicPr>
          <p:cNvPr id="5" name="Image 0" descr="preencoded.png"/>
          <p:cNvPicPr>
            <a:picLocks noChangeAspect="1"/>
          </p:cNvPicPr>
          <p:nvPr/>
        </p:nvPicPr>
        <p:blipFill>
          <a:blip r:embed="rId3"/>
          <a:stretch>
            <a:fillRect/>
          </a:stretch>
        </p:blipFill>
        <p:spPr>
          <a:xfrm>
            <a:off x="2095547" y="3278783"/>
            <a:ext cx="2185834" cy="246955"/>
          </a:xfrm>
          <a:prstGeom prst="rect">
            <a:avLst/>
          </a:prstGeom>
        </p:spPr>
      </p:pic>
      <p:sp>
        <p:nvSpPr>
          <p:cNvPr id="6" name="Text 3"/>
          <p:cNvSpPr/>
          <p:nvPr/>
        </p:nvSpPr>
        <p:spPr>
          <a:xfrm>
            <a:off x="661475" y="3762077"/>
            <a:ext cx="10868745" cy="817463"/>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403011"/>
                </a:solidFill>
                <a:latin typeface="Brygada 1918" pitchFamily="34" charset="0"/>
                <a:ea typeface="Brygada 1918" pitchFamily="34" charset="-122"/>
                <a:cs typeface="Brygada 1918" pitchFamily="34" charset="-120"/>
              </a:rPr>
              <a:t>E seu comprimento é: </a:t>
            </a:r>
            <a:endParaRPr lang="en-US" sz="1450" dirty="0"/>
          </a:p>
        </p:txBody>
      </p:sp>
      <p:sp>
        <p:nvSpPr>
          <p:cNvPr id="7" name="Text 4"/>
          <p:cNvSpPr/>
          <p:nvPr/>
        </p:nvSpPr>
        <p:spPr>
          <a:xfrm>
            <a:off x="661475" y="4792166"/>
            <a:ext cx="11478330" cy="302419"/>
          </a:xfrm>
          <a:prstGeom prst="rect">
            <a:avLst/>
          </a:prstGeom>
          <a:noFill/>
          <a:ln/>
        </p:spPr>
        <p:txBody>
          <a:bodyPr wrap="none" lIns="0" tIns="0" rIns="0" bIns="0" rtlCol="0" anchor="t"/>
          <a:lstStyle/>
          <a:p>
            <a:pPr marL="0" indent="0" algn="l">
              <a:lnSpc>
                <a:spcPct val="133000"/>
              </a:lnSpc>
              <a:buNone/>
            </a:pPr>
            <a:r>
              <a:rPr lang="en-US" sz="1450" i="1" dirty="0">
                <a:solidFill>
                  <a:srgbClr val="403011"/>
                </a:solidFill>
                <a:latin typeface="Brygada 1918" pitchFamily="34" charset="0"/>
                <a:ea typeface="Brygada 1918" pitchFamily="34" charset="-122"/>
                <a:cs typeface="Brygada 1918" pitchFamily="34" charset="-120"/>
              </a:rPr>
              <a:t>        </a:t>
            </a:r>
            <a:r>
              <a:rPr lang="en-US" sz="1450" dirty="0">
                <a:solidFill>
                  <a:srgbClr val="403011"/>
                </a:solidFill>
                <a:latin typeface="Brygada 1918" pitchFamily="34" charset="0"/>
                <a:ea typeface="Brygada 1918" pitchFamily="34" charset="-122"/>
                <a:cs typeface="Brygada 1918" pitchFamily="34" charset="-120"/>
              </a:rPr>
              <a:t> metros</a:t>
            </a:r>
            <a:endParaRPr lang="en-US" sz="1450" dirty="0"/>
          </a:p>
        </p:txBody>
      </p:sp>
      <p:pic>
        <p:nvPicPr>
          <p:cNvPr id="8" name="Image 1" descr="preencoded.png"/>
          <p:cNvPicPr>
            <a:picLocks noChangeAspect="1"/>
          </p:cNvPicPr>
          <p:nvPr/>
        </p:nvPicPr>
        <p:blipFill>
          <a:blip r:embed="rId4"/>
          <a:stretch>
            <a:fillRect/>
          </a:stretch>
        </p:blipFill>
        <p:spPr>
          <a:xfrm>
            <a:off x="661475" y="4823916"/>
            <a:ext cx="1359263" cy="246955"/>
          </a:xfrm>
          <a:prstGeom prst="rect">
            <a:avLst/>
          </a:prstGeom>
        </p:spPr>
      </p:pic>
      <p:sp>
        <p:nvSpPr>
          <p:cNvPr id="9" name="Text 5"/>
          <p:cNvSpPr/>
          <p:nvPr/>
        </p:nvSpPr>
        <p:spPr>
          <a:xfrm>
            <a:off x="661475" y="5307211"/>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Ambos os dados estão corretos de acordo com a fonte original (</a:t>
            </a:r>
            <a:r>
              <a:rPr lang="en-US" sz="1450" b="1" u="sng" dirty="0">
                <a:solidFill>
                  <a:srgbClr val="626C3B"/>
                </a:solidFill>
                <a:latin typeface="Brygada 1918 Bold" pitchFamily="34" charset="0"/>
                <a:ea typeface="Brygada 1918 Bold" pitchFamily="34" charset="-122"/>
                <a:cs typeface="Brygada 1918 Bold" pitchFamily="34" charset="-120"/>
                <a:hlinkClick r:id="rId5">
                  <a:extLst>
                    <a:ext uri="{A12FA001-AC4F-418D-AE19-62706E023703}">
                      <ahyp:hlinkClr xmlns:ahyp="http://schemas.microsoft.com/office/drawing/2018/hyperlinkcolor" val="tx"/>
                    </a:ext>
                  </a:extLst>
                </a:hlinkClick>
              </a:rPr>
              <a:t>https://iazzetta.eca.usp.br/tutor/acustica/introducao/tabela1.html</a:t>
            </a:r>
            <a:r>
              <a:rPr lang="en-US" sz="1450" dirty="0">
                <a:solidFill>
                  <a:srgbClr val="403011"/>
                </a:solidFill>
                <a:latin typeface="Brygada 1918" pitchFamily="34" charset="0"/>
                <a:ea typeface="Brygada 1918" pitchFamily="34" charset="-122"/>
                <a:cs typeface="Brygada 1918" pitchFamily="34" charset="-120"/>
              </a:rPr>
              <a:t>)</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57973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5.4 SITUAÇÕES PRÁTICAS</a:t>
            </a:r>
            <a:endParaRPr lang="en-US" sz="37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1548408"/>
            <a:ext cx="472468" cy="472480"/>
          </a:xfrm>
          <a:prstGeom prst="rect">
            <a:avLst/>
          </a:prstGeom>
        </p:spPr>
      </p:pic>
      <p:sp>
        <p:nvSpPr>
          <p:cNvPr id="4" name="Text 1"/>
          <p:cNvSpPr/>
          <p:nvPr/>
        </p:nvSpPr>
        <p:spPr>
          <a:xfrm>
            <a:off x="661475" y="2257127"/>
            <a:ext cx="5316206" cy="295275"/>
          </a:xfrm>
          <a:prstGeom prst="rect">
            <a:avLst/>
          </a:prstGeom>
          <a:noFill/>
          <a:ln/>
        </p:spPr>
        <p:txBody>
          <a:bodyPr wrap="none" lIns="0" tIns="0" rIns="0" bIns="0" rtlCol="0" anchor="t"/>
          <a:lstStyle/>
          <a:p>
            <a:pPr marL="0" indent="0" algn="l">
              <a:lnSpc>
                <a:spcPct val="104000"/>
              </a:lnSpc>
              <a:buNone/>
            </a:pPr>
            <a:r>
              <a:rPr lang="en-US" sz="1850" dirty="0">
                <a:solidFill>
                  <a:srgbClr val="403011"/>
                </a:solidFill>
                <a:latin typeface="Brygada 1918 SemiBold" pitchFamily="34" charset="0"/>
                <a:ea typeface="Brygada 1918 SemiBold" pitchFamily="34" charset="-122"/>
                <a:cs typeface="Brygada 1918 SemiBold" pitchFamily="34" charset="-120"/>
              </a:rPr>
              <a:t>Engenheiros de Áudio</a:t>
            </a:r>
            <a:endParaRPr lang="en-US" sz="1850" dirty="0"/>
          </a:p>
        </p:txBody>
      </p:sp>
      <p:sp>
        <p:nvSpPr>
          <p:cNvPr id="5" name="Text 2"/>
          <p:cNvSpPr/>
          <p:nvPr/>
        </p:nvSpPr>
        <p:spPr>
          <a:xfrm>
            <a:off x="661475" y="2665809"/>
            <a:ext cx="531620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Engenheiros de áudio poderiam usar essa previsão para desenvolver softwares capazes de identificar e remover ruídos indesejados de gravações.</a:t>
            </a:r>
            <a:endParaRPr lang="en-US" sz="14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3915" y="1548408"/>
            <a:ext cx="472468" cy="472480"/>
          </a:xfrm>
          <a:prstGeom prst="rect">
            <a:avLst/>
          </a:prstGeom>
        </p:spPr>
      </p:pic>
      <p:sp>
        <p:nvSpPr>
          <p:cNvPr id="7" name="Text 3"/>
          <p:cNvSpPr/>
          <p:nvPr/>
        </p:nvSpPr>
        <p:spPr>
          <a:xfrm>
            <a:off x="6213915" y="2257127"/>
            <a:ext cx="5316305" cy="295275"/>
          </a:xfrm>
          <a:prstGeom prst="rect">
            <a:avLst/>
          </a:prstGeom>
          <a:noFill/>
          <a:ln/>
        </p:spPr>
        <p:txBody>
          <a:bodyPr wrap="none" lIns="0" tIns="0" rIns="0" bIns="0" rtlCol="0" anchor="t"/>
          <a:lstStyle/>
          <a:p>
            <a:pPr marL="0" indent="0" algn="l">
              <a:lnSpc>
                <a:spcPct val="104000"/>
              </a:lnSpc>
              <a:buNone/>
            </a:pPr>
            <a:r>
              <a:rPr lang="en-US" sz="1850" dirty="0">
                <a:solidFill>
                  <a:srgbClr val="403011"/>
                </a:solidFill>
                <a:latin typeface="Brygada 1918 SemiBold" pitchFamily="34" charset="0"/>
                <a:ea typeface="Brygada 1918 SemiBold" pitchFamily="34" charset="-122"/>
                <a:cs typeface="Brygada 1918 SemiBold" pitchFamily="34" charset="-120"/>
              </a:rPr>
              <a:t>Fones de Ouvido</a:t>
            </a:r>
            <a:endParaRPr lang="en-US" sz="1850" dirty="0"/>
          </a:p>
        </p:txBody>
      </p:sp>
      <p:sp>
        <p:nvSpPr>
          <p:cNvPr id="8" name="Text 4"/>
          <p:cNvSpPr/>
          <p:nvPr/>
        </p:nvSpPr>
        <p:spPr>
          <a:xfrm>
            <a:off x="6213915" y="2665809"/>
            <a:ext cx="531630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Engenheiros poderiam usar essa previsão para desenvolver fones de ouvido que produzem uma onda sonora oposta ao ruído externo, reduzindo ou anulando parte do som indesejado.</a:t>
            </a:r>
            <a:endParaRPr lang="en-US" sz="14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53508"/>
            <a:ext cx="472468" cy="472480"/>
          </a:xfrm>
          <a:prstGeom prst="rect">
            <a:avLst/>
          </a:prstGeom>
        </p:spPr>
      </p:pic>
      <p:sp>
        <p:nvSpPr>
          <p:cNvPr id="10" name="Text 5"/>
          <p:cNvSpPr/>
          <p:nvPr/>
        </p:nvSpPr>
        <p:spPr>
          <a:xfrm>
            <a:off x="661475" y="4962227"/>
            <a:ext cx="5316206" cy="295275"/>
          </a:xfrm>
          <a:prstGeom prst="rect">
            <a:avLst/>
          </a:prstGeom>
          <a:noFill/>
          <a:ln/>
        </p:spPr>
        <p:txBody>
          <a:bodyPr wrap="none" lIns="0" tIns="0" rIns="0" bIns="0" rtlCol="0" anchor="t"/>
          <a:lstStyle/>
          <a:p>
            <a:pPr marL="0" indent="0" algn="l">
              <a:lnSpc>
                <a:spcPct val="104000"/>
              </a:lnSpc>
              <a:buNone/>
            </a:pPr>
            <a:r>
              <a:rPr lang="en-US" sz="1850" dirty="0">
                <a:solidFill>
                  <a:srgbClr val="403011"/>
                </a:solidFill>
                <a:latin typeface="Brygada 1918 SemiBold" pitchFamily="34" charset="0"/>
                <a:ea typeface="Brygada 1918 SemiBold" pitchFamily="34" charset="-122"/>
                <a:cs typeface="Brygada 1918 SemiBold" pitchFamily="34" charset="-120"/>
              </a:rPr>
              <a:t>Sondas e Mapeamento</a:t>
            </a:r>
            <a:endParaRPr lang="en-US" sz="1850" dirty="0"/>
          </a:p>
        </p:txBody>
      </p:sp>
      <p:sp>
        <p:nvSpPr>
          <p:cNvPr id="11" name="Text 6"/>
          <p:cNvSpPr/>
          <p:nvPr/>
        </p:nvSpPr>
        <p:spPr>
          <a:xfrm>
            <a:off x="661475" y="5370909"/>
            <a:ext cx="531620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Sondas e mapeamento: geólogos e engenheiros poderiam utilizar ondas sonoras para analisar o subsolo e obter informações sobre terrenos e estruturas geológicas.</a:t>
            </a:r>
            <a:endParaRPr lang="en-US" sz="14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13915" y="4253508"/>
            <a:ext cx="472468" cy="472480"/>
          </a:xfrm>
          <a:prstGeom prst="rect">
            <a:avLst/>
          </a:prstGeom>
        </p:spPr>
      </p:pic>
      <p:sp>
        <p:nvSpPr>
          <p:cNvPr id="13" name="Text 7"/>
          <p:cNvSpPr/>
          <p:nvPr/>
        </p:nvSpPr>
        <p:spPr>
          <a:xfrm>
            <a:off x="6213915" y="4962227"/>
            <a:ext cx="5316305" cy="295275"/>
          </a:xfrm>
          <a:prstGeom prst="rect">
            <a:avLst/>
          </a:prstGeom>
          <a:noFill/>
          <a:ln/>
        </p:spPr>
        <p:txBody>
          <a:bodyPr wrap="none" lIns="0" tIns="0" rIns="0" bIns="0" rtlCol="0" anchor="t"/>
          <a:lstStyle/>
          <a:p>
            <a:pPr marL="0" indent="0" algn="l">
              <a:lnSpc>
                <a:spcPct val="104000"/>
              </a:lnSpc>
              <a:buNone/>
            </a:pPr>
            <a:r>
              <a:rPr lang="en-US" sz="1850" dirty="0">
                <a:solidFill>
                  <a:srgbClr val="403011"/>
                </a:solidFill>
                <a:latin typeface="Brygada 1918 SemiBold" pitchFamily="34" charset="0"/>
                <a:ea typeface="Brygada 1918 SemiBold" pitchFamily="34" charset="-122"/>
                <a:cs typeface="Brygada 1918 SemiBold" pitchFamily="34" charset="-120"/>
              </a:rPr>
              <a:t>Profissões da Saúde</a:t>
            </a:r>
            <a:endParaRPr lang="en-US" sz="1850" dirty="0"/>
          </a:p>
        </p:txBody>
      </p:sp>
      <p:sp>
        <p:nvSpPr>
          <p:cNvPr id="14" name="Text 8"/>
          <p:cNvSpPr/>
          <p:nvPr/>
        </p:nvSpPr>
        <p:spPr>
          <a:xfrm>
            <a:off x="6213915" y="5370909"/>
            <a:ext cx="531630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03011"/>
                </a:solidFill>
                <a:latin typeface="Brygada 1918" pitchFamily="34" charset="0"/>
                <a:ea typeface="Brygada 1918" pitchFamily="34" charset="-122"/>
                <a:cs typeface="Brygada 1918" pitchFamily="34" charset="-120"/>
              </a:rPr>
              <a:t>Profissões da saúde poderiam utilizar ondas de ultrassom para obter imagens do interior do corpo, auxiliando na identificação e no acompanhamento de estruturas e órgãos.</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232102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03011"/>
                </a:solidFill>
                <a:latin typeface="Brygada 1918 SemiBold" pitchFamily="34" charset="0"/>
                <a:ea typeface="Brygada 1918 SemiBold" pitchFamily="34" charset="-122"/>
                <a:cs typeface="Brygada 1918 SemiBold" pitchFamily="34" charset="-120"/>
              </a:rPr>
              <a:t>REFERÊNCIAS</a:t>
            </a:r>
            <a:endParaRPr lang="en-US" sz="3700" dirty="0"/>
          </a:p>
        </p:txBody>
      </p:sp>
      <p:sp>
        <p:nvSpPr>
          <p:cNvPr id="3" name="Text 1"/>
          <p:cNvSpPr/>
          <p:nvPr/>
        </p:nvSpPr>
        <p:spPr>
          <a:xfrm>
            <a:off x="661475" y="3195141"/>
            <a:ext cx="10868745" cy="134183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403011"/>
                </a:solidFill>
                <a:latin typeface="Brygada 1918" pitchFamily="34" charset="0"/>
                <a:ea typeface="Brygada 1918" pitchFamily="34" charset="-122"/>
                <a:cs typeface="Brygada 1918" pitchFamily="34" charset="-120"/>
              </a:rPr>
              <a:t>Repositório no GitHub por Pedro Vitor: </a:t>
            </a:r>
            <a:r>
              <a:rPr lang="en-US" sz="1450" b="1" u="sng" dirty="0">
                <a:solidFill>
                  <a:srgbClr val="626C3B"/>
                </a:solidFill>
                <a:latin typeface="Brygada 1918 Bold" pitchFamily="34" charset="0"/>
                <a:ea typeface="Brygada 1918 Bold" pitchFamily="34" charset="-122"/>
                <a:cs typeface="Brygada 1918 Bold" pitchFamily="34" charset="-120"/>
                <a:hlinkClick r:id="rId3">
                  <a:extLst>
                    <a:ext uri="{A12FA001-AC4F-418D-AE19-62706E023703}">
                      <ahyp:hlinkClr xmlns:ahyp="http://schemas.microsoft.com/office/drawing/2018/hyperlinkcolor" val="tx"/>
                    </a:ext>
                  </a:extLst>
                </a:hlinkClick>
              </a:rPr>
              <a:t>https://github.com/vitorortiz319-trabalho.Funcoes.trigonometricas.git</a:t>
            </a:r>
            <a:endParaRPr lang="en-US" sz="1450" dirty="0"/>
          </a:p>
          <a:p>
            <a:pPr marL="294640" indent="-294640" algn="l">
              <a:lnSpc>
                <a:spcPct val="133000"/>
              </a:lnSpc>
              <a:buSzPct val="100000"/>
              <a:buChar char="•"/>
            </a:pPr>
            <a:r>
              <a:rPr lang="en-US" sz="1450" dirty="0">
                <a:solidFill>
                  <a:srgbClr val="403011"/>
                </a:solidFill>
                <a:latin typeface="Brygada 1918" pitchFamily="34" charset="0"/>
                <a:ea typeface="Brygada 1918" pitchFamily="34" charset="-122"/>
                <a:cs typeface="Brygada 1918" pitchFamily="34" charset="-120"/>
              </a:rPr>
              <a:t>Fernando Iazzetta, USP: </a:t>
            </a:r>
            <a:r>
              <a:rPr lang="en-US" sz="1450" b="1" u="sng" dirty="0">
                <a:solidFill>
                  <a:srgbClr val="626C3B"/>
                </a:solidFill>
                <a:latin typeface="Brygada 1918 Bold" pitchFamily="34" charset="0"/>
                <a:ea typeface="Brygada 1918 Bold" pitchFamily="34" charset="-122"/>
                <a:cs typeface="Brygada 1918 Bold" pitchFamily="34" charset="-120"/>
                <a:hlinkClick r:id="rId4">
                  <a:extLst>
                    <a:ext uri="{A12FA001-AC4F-418D-AE19-62706E023703}">
                      <ahyp:hlinkClr xmlns:ahyp="http://schemas.microsoft.com/office/drawing/2018/hyperlinkcolor" val="tx"/>
                    </a:ext>
                  </a:extLst>
                </a:hlinkClick>
              </a:rPr>
              <a:t>https://iazzetta.eca.usp.br/tutor/acustica/introducao/tabela1.html</a:t>
            </a:r>
            <a:endParaRPr lang="en-US" sz="1450" dirty="0"/>
          </a:p>
          <a:p>
            <a:pPr marL="294640" indent="-294640" algn="l">
              <a:lnSpc>
                <a:spcPct val="133000"/>
              </a:lnSpc>
              <a:buSzPct val="100000"/>
              <a:buChar char="•"/>
            </a:pPr>
            <a:r>
              <a:rPr lang="en-US" sz="1450" dirty="0">
                <a:solidFill>
                  <a:srgbClr val="403011"/>
                </a:solidFill>
                <a:latin typeface="Brygada 1918" pitchFamily="34" charset="0"/>
                <a:ea typeface="Brygada 1918" pitchFamily="34" charset="-122"/>
                <a:cs typeface="Brygada 1918" pitchFamily="34" charset="-120"/>
              </a:rPr>
              <a:t>Ludke, Everton, et al. "Velocidade do som no ar e efeito Doppler em um único experimento." Revista Brasileira de Ensino de Física 34.1 (2012): 1702.</a:t>
            </a:r>
            <a:endParaRPr lang="en-US" sz="145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1D58235-AF5A-48C8-9E97-FBC23750F7CC}"/>
              </a:ext>
            </a:extLst>
          </p:cNvPr>
          <p:cNvSpPr txBox="1"/>
          <p:nvPr/>
        </p:nvSpPr>
        <p:spPr>
          <a:xfrm>
            <a:off x="2328441" y="1990846"/>
            <a:ext cx="7535119" cy="3046988"/>
          </a:xfrm>
          <a:prstGeom prst="rect">
            <a:avLst/>
          </a:prstGeom>
          <a:noFill/>
        </p:spPr>
        <p:txBody>
          <a:bodyPr wrap="square" rtlCol="0">
            <a:spAutoFit/>
          </a:bodyPr>
          <a:lstStyle/>
          <a:p>
            <a:pPr algn="ctr"/>
            <a:r>
              <a:rPr lang="pt-BR" sz="9600" dirty="0">
                <a:latin typeface="Oferta do Dia" pitchFamily="2" charset="0"/>
              </a:rPr>
              <a:t>Obrigado por assistir!</a:t>
            </a:r>
          </a:p>
        </p:txBody>
      </p:sp>
    </p:spTree>
    <p:extLst>
      <p:ext uri="{BB962C8B-B14F-4D97-AF65-F5344CB8AC3E}">
        <p14:creationId xmlns:p14="http://schemas.microsoft.com/office/powerpoint/2010/main" val="228705654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626C3B"/>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2584</Words>
  <Application>Microsoft Office PowerPoint</Application>
  <PresentationFormat>Widescreen</PresentationFormat>
  <Paragraphs>138</Paragraphs>
  <Slides>20</Slides>
  <Notes>18</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20</vt:i4>
      </vt:variant>
    </vt:vector>
  </HeadingPairs>
  <TitlesOfParts>
    <vt:vector size="27" baseType="lpstr">
      <vt:lpstr>Arial</vt:lpstr>
      <vt:lpstr>Calibri</vt:lpstr>
      <vt:lpstr>Brygada 1918 Bold</vt:lpstr>
      <vt:lpstr>Brygada 1918</vt:lpstr>
      <vt:lpstr>Oferta do Dia</vt:lpstr>
      <vt:lpstr>Brygada 1918 SemiBold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
  <dc:creator/>
  <cp:lastModifiedBy>Pedro Vitor ortiz</cp:lastModifiedBy>
  <cp:revision>6</cp:revision>
  <dcterms:created xsi:type="dcterms:W3CDTF">2026-09-14T03:55:41Z</dcterms:created>
  <dcterms:modified xsi:type="dcterms:W3CDTF">2026-09-14T04:04:08Z</dcterms:modified>
</cp:coreProperties>
</file>